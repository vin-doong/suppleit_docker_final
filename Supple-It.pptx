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1" r:id="rId1"/>
  </p:sldMasterIdLst>
  <p:sldIdLst>
    <p:sldId id="256" r:id="rId2"/>
    <p:sldId id="257" r:id="rId3"/>
    <p:sldId id="290" r:id="rId4"/>
    <p:sldId id="258" r:id="rId5"/>
    <p:sldId id="259" r:id="rId6"/>
    <p:sldId id="260" r:id="rId7"/>
    <p:sldId id="291" r:id="rId8"/>
    <p:sldId id="261" r:id="rId9"/>
    <p:sldId id="292" r:id="rId10"/>
    <p:sldId id="263" r:id="rId11"/>
    <p:sldId id="264" r:id="rId12"/>
    <p:sldId id="270" r:id="rId13"/>
    <p:sldId id="266" r:id="rId14"/>
    <p:sldId id="267" r:id="rId15"/>
    <p:sldId id="268" r:id="rId16"/>
    <p:sldId id="269" r:id="rId17"/>
    <p:sldId id="271" r:id="rId18"/>
    <p:sldId id="285" r:id="rId19"/>
    <p:sldId id="293" r:id="rId20"/>
    <p:sldId id="286" r:id="rId21"/>
    <p:sldId id="287" r:id="rId22"/>
    <p:sldId id="294" r:id="rId23"/>
    <p:sldId id="295" r:id="rId24"/>
    <p:sldId id="296" r:id="rId25"/>
    <p:sldId id="297" r:id="rId26"/>
    <p:sldId id="288" r:id="rId27"/>
    <p:sldId id="298" r:id="rId28"/>
    <p:sldId id="289" r:id="rId29"/>
    <p:sldId id="278" r:id="rId30"/>
    <p:sldId id="299" r:id="rId31"/>
    <p:sldId id="300" r:id="rId32"/>
    <p:sldId id="301" r:id="rId33"/>
    <p:sldId id="302" r:id="rId34"/>
    <p:sldId id="280" r:id="rId35"/>
    <p:sldId id="283" r:id="rId36"/>
    <p:sldId id="282" r:id="rId37"/>
    <p:sldId id="284" r:id="rId38"/>
  </p:sldIdLst>
  <p:sldSz cx="18288000" cy="10287000"/>
  <p:notesSz cx="6858000" cy="9144000"/>
  <p:embeddedFontLst>
    <p:embeddedFont>
      <p:font typeface="전기안전체 Bold" pitchFamily="50" charset="-127"/>
      <p:regular r:id="rId3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39">
          <p15:clr>
            <a:srgbClr val="A4A3A4"/>
          </p15:clr>
        </p15:guide>
        <p15:guide id="2" pos="575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="" xmlns:c="http://schemas.openxmlformats.org/drawingml/2006/chart" xmlns:dgm="http://schemas.openxmlformats.org/drawingml/2006/diagram" xmlns:dsp="http://schemas.microsoft.com/office/drawing/2008/diagram" xmlns:hp="http://schemas.haansoft.com/office/presentation/8.0" themeShowType="1" themeSkinType="1" themeTransitionType="1" useThemeTransition="1" byMouseClick="1" attrType="1" dur="200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27AD6C-8A9E-49C9-828E-B7351E5EF79A}" v="3" dt="2025-03-31T06:40:06.21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5" d="100"/>
          <a:sy n="65" d="100"/>
        </p:scale>
        <p:origin x="1074" y="288"/>
      </p:cViewPr>
      <p:guideLst>
        <p:guide orient="horz" pos="3239"/>
        <p:guide pos="575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3/31/2025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9.png"/><Relationship Id="rId18" Type="http://schemas.openxmlformats.org/officeDocument/2006/relationships/image" Target="../media/image34.png"/><Relationship Id="rId3" Type="http://schemas.openxmlformats.org/officeDocument/2006/relationships/image" Target="../media/image19.png"/><Relationship Id="rId21" Type="http://schemas.openxmlformats.org/officeDocument/2006/relationships/image" Target="../media/image37.png"/><Relationship Id="rId7" Type="http://schemas.openxmlformats.org/officeDocument/2006/relationships/image" Target="../media/image23.png"/><Relationship Id="rId12" Type="http://schemas.openxmlformats.org/officeDocument/2006/relationships/image" Target="../media/image28.png"/><Relationship Id="rId17" Type="http://schemas.openxmlformats.org/officeDocument/2006/relationships/image" Target="../media/image33.png"/><Relationship Id="rId2" Type="http://schemas.openxmlformats.org/officeDocument/2006/relationships/image" Target="../media/image18.png"/><Relationship Id="rId16" Type="http://schemas.openxmlformats.org/officeDocument/2006/relationships/image" Target="../media/image32.png"/><Relationship Id="rId20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5" Type="http://schemas.openxmlformats.org/officeDocument/2006/relationships/image" Target="../media/image31.png"/><Relationship Id="rId10" Type="http://schemas.openxmlformats.org/officeDocument/2006/relationships/image" Target="../media/image26.png"/><Relationship Id="rId19" Type="http://schemas.openxmlformats.org/officeDocument/2006/relationships/image" Target="../media/image35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Relationship Id="rId14" Type="http://schemas.openxmlformats.org/officeDocument/2006/relationships/image" Target="../media/image3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838200" y="228600"/>
            <a:ext cx="17221200" cy="95123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10680700" y="1739900"/>
            <a:ext cx="5638800" cy="3429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r">
              <a:lnSpc>
                <a:spcPct val="88395"/>
              </a:lnSpc>
              <a:defRPr/>
            </a:pPr>
            <a:r>
              <a:rPr lang="ko-KR" sz="2600" b="1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강승엄</a:t>
            </a:r>
            <a:r>
              <a:rPr lang="en-US" sz="2600" b="1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,</a:t>
            </a:r>
            <a:r>
              <a:rPr lang="ko-KR" sz="2600" b="1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김상현</a:t>
            </a:r>
            <a:r>
              <a:rPr lang="en-US" sz="2600" b="1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,</a:t>
            </a:r>
            <a:r>
              <a:rPr lang="ko-KR" sz="2600" b="1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박제성</a:t>
            </a:r>
            <a:r>
              <a:rPr lang="en-US" sz="2600" b="1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,</a:t>
            </a:r>
            <a:r>
              <a:rPr lang="ko-KR" sz="2600" b="1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심유정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432800" y="3022600"/>
            <a:ext cx="7886700" cy="4064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r">
              <a:lnSpc>
                <a:spcPct val="128399"/>
              </a:lnSpc>
              <a:defRPr/>
            </a:pPr>
            <a:r>
              <a:rPr lang="ko-KR" sz="3000" b="1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맞춤형</a:t>
            </a:r>
            <a:r>
              <a:rPr lang="en-US" sz="3000" b="1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3000" b="1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영양제</a:t>
            </a:r>
            <a:r>
              <a:rPr lang="en-US" sz="3000" b="1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3000" b="1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추천</a:t>
            </a:r>
            <a:r>
              <a:rPr lang="en-US" sz="3000" b="1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3000" b="1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및</a:t>
            </a:r>
            <a:r>
              <a:rPr lang="en-US" sz="3000" b="1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3000" b="1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복용</a:t>
            </a:r>
            <a:r>
              <a:rPr lang="en-US" sz="3000" b="1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3000" b="1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관리</a:t>
            </a:r>
            <a:r>
              <a:rPr lang="en-US" sz="3000" b="1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3000" b="1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서비스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549400" y="3568700"/>
            <a:ext cx="698500" cy="4953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79400" y="2095500"/>
            <a:ext cx="6172200" cy="13208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 rotWithShape="1">
          <a:blip r:embed="rId5">
            <a:alphaModFix amt="82000"/>
          </a:blip>
          <a:stretch>
            <a:fillRect/>
          </a:stretch>
        </p:blipFill>
        <p:spPr>
          <a:xfrm>
            <a:off x="12827000" y="4991100"/>
            <a:ext cx="2159000" cy="32512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1892300" y="5499100"/>
            <a:ext cx="7035800" cy="1689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99600"/>
              </a:lnSpc>
              <a:defRPr/>
            </a:pPr>
            <a:r>
              <a:rPr lang="en-US" sz="9500" i="0" u="none" strike="noStrike" dirty="0">
                <a:solidFill>
                  <a:srgbClr val="000000"/>
                </a:solidFill>
                <a:effectLst/>
                <a:latin typeface="전기안전체 Bold" pitchFamily="50" charset="-127"/>
                <a:ea typeface="전기안전체 Bold" pitchFamily="50" charset="-127"/>
              </a:rPr>
              <a:t>Supple </a:t>
            </a:r>
            <a:r>
              <a:rPr lang="en-US" altLang="ko-KR" sz="9500" i="0" u="none" strike="noStrike" dirty="0">
                <a:solidFill>
                  <a:srgbClr val="000000"/>
                </a:solidFill>
                <a:effectLst/>
                <a:latin typeface="전기안전체 Bold" pitchFamily="50" charset="-127"/>
                <a:ea typeface="전기안전체 Bold" pitchFamily="50" charset="-127"/>
              </a:rPr>
              <a:t>I</a:t>
            </a:r>
            <a:r>
              <a:rPr lang="en-US" sz="9500" i="0" u="none" strike="noStrike" dirty="0">
                <a:solidFill>
                  <a:srgbClr val="000000"/>
                </a:solidFill>
                <a:effectLst/>
                <a:latin typeface="전기안전체 Bold" pitchFamily="50" charset="-127"/>
                <a:ea typeface="전기안전체 Bold" pitchFamily="50" charset="-127"/>
              </a:rPr>
              <a:t>t</a:t>
            </a:r>
            <a:endParaRPr lang="en-US" sz="9500" i="0" u="none" strike="noStrike" dirty="0">
              <a:solidFill>
                <a:srgbClr val="000000"/>
              </a:solidFill>
              <a:latin typeface="전기안전체 Bold" pitchFamily="50" charset="-127"/>
              <a:ea typeface="전기안전체 Bold" pitchFamily="50" charset="-127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-165100" y="-190500"/>
            <a:ext cx="1485900" cy="94869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-850900" y="8966200"/>
            <a:ext cx="19138900" cy="1765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-838200" y="8724900"/>
            <a:ext cx="19354800" cy="4953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5400000">
            <a:off x="-3305663" y="4123836"/>
            <a:ext cx="9221177" cy="47625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1993900" y="822472"/>
            <a:ext cx="15760700" cy="1066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09559"/>
              </a:lnSpc>
              <a:defRPr/>
            </a:pPr>
            <a:r>
              <a:rPr lang="ko-KR" sz="6000" b="0" i="0" u="none" strike="noStrike" spc="-4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목차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444349" y="2077703"/>
            <a:ext cx="6067340" cy="419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99600"/>
              </a:lnSpc>
              <a:defRPr/>
            </a:pPr>
            <a:r>
              <a:rPr lang="en-US" altLang="ko-KR" sz="48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1. </a:t>
            </a:r>
            <a:r>
              <a:rPr lang="ko-KR" sz="48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프로젝트</a:t>
            </a:r>
            <a:r>
              <a:rPr lang="en-US" sz="48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48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개요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844385" y="2882357"/>
            <a:ext cx="4635500" cy="13462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24499"/>
              </a:lnSpc>
              <a:defRPr/>
            </a:pPr>
            <a:r>
              <a:rPr lang="en-US" sz="32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- </a:t>
            </a:r>
            <a:r>
              <a:rPr lang="ko-KR" sz="32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기획</a:t>
            </a:r>
            <a:r>
              <a:rPr lang="en-US" sz="32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32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배경</a:t>
            </a:r>
          </a:p>
          <a:p>
            <a:pPr lvl="0" algn="l">
              <a:lnSpc>
                <a:spcPct val="124499"/>
              </a:lnSpc>
              <a:defRPr/>
            </a:pPr>
            <a:r>
              <a:rPr lang="en-US" sz="32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- </a:t>
            </a:r>
            <a:r>
              <a:rPr lang="ko-KR" sz="32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차별화</a:t>
            </a:r>
            <a:r>
              <a:rPr lang="en-US" sz="32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32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전략</a:t>
            </a:r>
          </a:p>
          <a:p>
            <a:pPr lvl="0" algn="l">
              <a:lnSpc>
                <a:spcPct val="124499"/>
              </a:lnSpc>
              <a:defRPr/>
            </a:pPr>
            <a:r>
              <a:rPr lang="en-US" sz="32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-</a:t>
            </a:r>
            <a:r>
              <a:rPr lang="ko-KR" altLang="en-US" sz="32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32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서비스</a:t>
            </a:r>
            <a:r>
              <a:rPr lang="en-US" sz="32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32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이름과</a:t>
            </a:r>
            <a:r>
              <a:rPr lang="en-US" sz="32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32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선정이유</a:t>
            </a:r>
            <a:br>
              <a:rPr lang="en-US" altLang="ko-KR" sz="32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</a:br>
            <a:r>
              <a:rPr lang="en-US" altLang="ko-KR" sz="3200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- SWOT</a:t>
            </a:r>
            <a:endParaRPr lang="en-US" altLang="ko-KR" sz="3200" b="0" i="0" u="none" strike="noStrike" spc="-100" dirty="0">
              <a:solidFill>
                <a:srgbClr val="000000"/>
              </a:solidFill>
              <a:latin typeface="전기안전체 Bold" pitchFamily="50" charset="-127"/>
              <a:ea typeface="전기안전체 Bold" pitchFamily="50" charset="-127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2509191" y="2073409"/>
            <a:ext cx="6067340" cy="3556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99600"/>
              </a:lnSpc>
              <a:defRPr/>
            </a:pPr>
            <a:r>
              <a:rPr lang="en-US" altLang="ko-KR" sz="48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3.</a:t>
            </a:r>
            <a:r>
              <a:rPr lang="ko-KR" sz="48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프로젝트</a:t>
            </a:r>
            <a:r>
              <a:rPr lang="en-US" sz="48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48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설계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875952" y="2901403"/>
            <a:ext cx="4635500" cy="2688123"/>
          </a:xfrm>
          <a:prstGeom prst="rect">
            <a:avLst/>
          </a:prstGeom>
        </p:spPr>
        <p:txBody>
          <a:bodyPr lIns="0" tIns="0" rIns="0" bIns="0" anchor="t"/>
          <a:lstStyle/>
          <a:p>
            <a:pPr marL="457200" lvl="0" indent="-457200" algn="l">
              <a:lnSpc>
                <a:spcPct val="124499"/>
              </a:lnSpc>
              <a:buFontTx/>
              <a:buChar char="-"/>
              <a:defRPr/>
            </a:pPr>
            <a:r>
              <a:rPr lang="ko-KR" sz="3200" b="0" i="0" u="none" strike="noStrike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아키텍</a:t>
            </a:r>
            <a:r>
              <a:rPr lang="ko-KR" altLang="en-US" sz="3200" b="0" i="0" u="none" strike="noStrike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처</a:t>
            </a:r>
            <a:r>
              <a:rPr lang="en-US" sz="3200" b="0" i="0" u="none" strike="noStrike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 </a:t>
            </a:r>
            <a:r>
              <a:rPr lang="ko-KR" altLang="en-US" sz="3200" b="0" i="0" u="none" strike="noStrike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구조</a:t>
            </a:r>
            <a:endParaRPr lang="en-US" altLang="ko-KR" sz="3200" b="0" i="0" u="none" strike="noStrike" dirty="0">
              <a:solidFill>
                <a:srgbClr val="000000"/>
              </a:solidFill>
              <a:latin typeface="전기안전체 Bold" pitchFamily="50" charset="-127"/>
              <a:ea typeface="전기안전체 Bold" pitchFamily="50" charset="-127"/>
            </a:endParaRPr>
          </a:p>
          <a:p>
            <a:pPr marL="457200" indent="-457200">
              <a:lnSpc>
                <a:spcPct val="124499"/>
              </a:lnSpc>
              <a:buFontTx/>
              <a:buChar char="-"/>
              <a:defRPr/>
            </a:pPr>
            <a:r>
              <a:rPr lang="en-US" altLang="ko-KR" sz="32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ERD , Flowchart</a:t>
            </a:r>
            <a:r>
              <a:rPr lang="ko-KR" altLang="en-US" sz="32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endParaRPr lang="en-US" altLang="ko-KR" sz="3200" b="0" i="0" u="none" strike="noStrike" spc="-100" dirty="0">
              <a:solidFill>
                <a:srgbClr val="000000"/>
              </a:solidFill>
              <a:latin typeface="전기안전체 Bold" pitchFamily="50" charset="-127"/>
              <a:ea typeface="전기안전체 Bold" pitchFamily="50" charset="-127"/>
            </a:endParaRPr>
          </a:p>
          <a:p>
            <a:pPr marL="457200" indent="-457200">
              <a:lnSpc>
                <a:spcPct val="124499"/>
              </a:lnSpc>
              <a:buFontTx/>
              <a:buChar char="-"/>
              <a:defRPr/>
            </a:pPr>
            <a:r>
              <a:rPr lang="en-US" altLang="ko-KR" sz="3200" b="0" i="0" u="none" strike="noStrike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Use Case Diagram</a:t>
            </a:r>
          </a:p>
          <a:p>
            <a:pPr marL="457200" indent="-457200">
              <a:lnSpc>
                <a:spcPct val="124499"/>
              </a:lnSpc>
              <a:buFontTx/>
              <a:buChar char="-"/>
              <a:defRPr/>
            </a:pPr>
            <a:r>
              <a:rPr lang="ko-KR" altLang="en-US" sz="3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화면설계서</a:t>
            </a:r>
            <a:endParaRPr lang="en-US" altLang="ko-KR" sz="3200" b="0" i="0" u="none" strike="noStrike" dirty="0">
              <a:solidFill>
                <a:srgbClr val="000000"/>
              </a:solidFill>
              <a:latin typeface="전기안전체 Bold" pitchFamily="50" charset="-127"/>
              <a:ea typeface="전기안전체 Bold" pitchFamily="50" charset="-127"/>
            </a:endParaRPr>
          </a:p>
          <a:p>
            <a:pPr lvl="0" algn="l">
              <a:lnSpc>
                <a:spcPct val="124499"/>
              </a:lnSpc>
              <a:defRPr/>
            </a:pPr>
            <a:endParaRPr lang="en-US" sz="3200" b="0" i="0" u="none" strike="noStrike" dirty="0">
              <a:solidFill>
                <a:srgbClr val="000000"/>
              </a:solidFill>
              <a:latin typeface="전기안전체 Bold" pitchFamily="50" charset="-127"/>
              <a:ea typeface="전기안전체 Bold" pitchFamily="50" charset="-127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2444349" y="5966112"/>
            <a:ext cx="3608443" cy="692145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99600"/>
              </a:lnSpc>
              <a:defRPr/>
            </a:pPr>
            <a:r>
              <a:rPr lang="en-US" altLang="ko-KR" sz="48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4.</a:t>
            </a:r>
            <a:r>
              <a:rPr lang="ko-KR" sz="48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화면</a:t>
            </a:r>
            <a:r>
              <a:rPr lang="en-US" sz="48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48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설명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838727" y="6815902"/>
            <a:ext cx="2756866" cy="1747493"/>
          </a:xfrm>
          <a:prstGeom prst="rect">
            <a:avLst/>
          </a:prstGeom>
        </p:spPr>
        <p:txBody>
          <a:bodyPr lIns="0" tIns="0" rIns="0" bIns="0" anchor="t"/>
          <a:lstStyle/>
          <a:p>
            <a:pPr marL="457200" lvl="0" indent="-457200" algn="l">
              <a:lnSpc>
                <a:spcPct val="124499"/>
              </a:lnSpc>
              <a:buFontTx/>
              <a:buChar char="-"/>
              <a:defRPr/>
            </a:pPr>
            <a:r>
              <a:rPr lang="ko-KR" altLang="en-US" sz="32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화면 구성</a:t>
            </a:r>
            <a:endParaRPr lang="en-US" altLang="ko-KR" sz="3200" spc="-100" dirty="0">
              <a:solidFill>
                <a:srgbClr val="000000"/>
              </a:solidFill>
              <a:latin typeface="전기안전체 Bold" pitchFamily="50" charset="-127"/>
              <a:ea typeface="전기안전체 Bold" pitchFamily="50" charset="-127"/>
            </a:endParaRPr>
          </a:p>
          <a:p>
            <a:pPr marL="457200" lvl="0" indent="-457200" algn="l">
              <a:lnSpc>
                <a:spcPct val="124499"/>
              </a:lnSpc>
              <a:buFontTx/>
              <a:buChar char="-"/>
              <a:defRPr/>
            </a:pPr>
            <a:r>
              <a:rPr lang="ko-KR" sz="32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기능</a:t>
            </a:r>
            <a:r>
              <a:rPr lang="en-US" sz="32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32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안내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982995" y="5917654"/>
            <a:ext cx="3471162" cy="782088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99600"/>
              </a:lnSpc>
              <a:defRPr/>
            </a:pPr>
            <a:r>
              <a:rPr lang="en-US" altLang="ko-KR" sz="48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5.</a:t>
            </a:r>
            <a:r>
              <a:rPr lang="ko-KR" sz="48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시연</a:t>
            </a:r>
            <a:r>
              <a:rPr lang="en-US" altLang="ko-KR" sz="48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&amp;</a:t>
            </a:r>
            <a:r>
              <a:rPr lang="en-US" altLang="ko-KR" sz="4800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en-US" altLang="ko-KR" sz="48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TS</a:t>
            </a:r>
            <a:endParaRPr lang="ko-KR" sz="4800" b="0" i="0" u="none" strike="noStrike" spc="-100" dirty="0">
              <a:solidFill>
                <a:srgbClr val="000000"/>
              </a:solidFill>
              <a:latin typeface="전기안전체 Bold" pitchFamily="50" charset="-127"/>
              <a:ea typeface="전기안전체 Bold" pitchFamily="50" charset="-127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8174520" y="7401072"/>
            <a:ext cx="4635500" cy="8890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24499"/>
              </a:lnSpc>
              <a:defRPr/>
            </a:pPr>
            <a:endParaRPr lang="en-US" sz="3200" b="0" i="0" u="none" strike="noStrike" spc="-100" dirty="0">
              <a:solidFill>
                <a:srgbClr val="000000"/>
              </a:solidFill>
              <a:latin typeface="전기안전체 Bold" pitchFamily="50" charset="-127"/>
              <a:ea typeface="전기안전체 Bold" pitchFamily="50" charset="-127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2473631" y="5966112"/>
            <a:ext cx="6881860" cy="419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99600"/>
              </a:lnSpc>
              <a:defRPr/>
            </a:pPr>
            <a:r>
              <a:rPr lang="en-US" altLang="ko-KR" sz="48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6.</a:t>
            </a:r>
            <a:r>
              <a:rPr lang="ko-KR" sz="48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en-US" altLang="ko-KR" sz="48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Q&amp;A &amp; </a:t>
            </a:r>
            <a:r>
              <a:rPr lang="ko-KR" altLang="en-US" sz="48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후기</a:t>
            </a:r>
            <a:endParaRPr lang="ko-KR" sz="4800" b="0" i="0" u="none" strike="noStrike" spc="-100" dirty="0">
              <a:solidFill>
                <a:srgbClr val="000000"/>
              </a:solidFill>
              <a:latin typeface="전기안전체 Bold" pitchFamily="50" charset="-127"/>
              <a:ea typeface="전기안전체 Bold" pitchFamily="50" charset="-127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2875952" y="6831641"/>
            <a:ext cx="5257800" cy="13462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24499"/>
              </a:lnSpc>
              <a:defRPr/>
            </a:pPr>
            <a:r>
              <a:rPr lang="en-US" sz="32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- </a:t>
            </a:r>
            <a:r>
              <a:rPr lang="en-US" sz="3200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Q&amp;A</a:t>
            </a:r>
            <a:endParaRPr lang="ko-KR" sz="3200" b="0" i="0" u="none" strike="noStrike" spc="-100" dirty="0">
              <a:solidFill>
                <a:srgbClr val="000000"/>
              </a:solidFill>
              <a:latin typeface="전기안전체 Bold" pitchFamily="50" charset="-127"/>
              <a:ea typeface="전기안전체 Bold" pitchFamily="50" charset="-127"/>
            </a:endParaRPr>
          </a:p>
          <a:p>
            <a:pPr lvl="0" algn="l">
              <a:lnSpc>
                <a:spcPct val="124499"/>
              </a:lnSpc>
              <a:defRPr/>
            </a:pPr>
            <a:r>
              <a:rPr lang="en-US" sz="32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-</a:t>
            </a:r>
            <a:r>
              <a:rPr lang="ko-KR" altLang="en-US" sz="32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후기</a:t>
            </a:r>
            <a:endParaRPr lang="ko-KR" sz="3200" b="0" i="0" u="none" strike="noStrike" spc="-100" dirty="0">
              <a:solidFill>
                <a:srgbClr val="000000"/>
              </a:solidFill>
              <a:latin typeface="전기안전체 Bold" pitchFamily="50" charset="-127"/>
              <a:ea typeface="전기안전체 Bold" pitchFamily="50" charset="-127"/>
            </a:endParaRPr>
          </a:p>
          <a:p>
            <a:pPr lvl="0" algn="l">
              <a:lnSpc>
                <a:spcPct val="124499"/>
              </a:lnSpc>
              <a:defRPr/>
            </a:pPr>
            <a:endParaRPr lang="en-US" sz="3200" b="0" i="0" u="none" strike="noStrike" spc="-100" dirty="0">
              <a:solidFill>
                <a:srgbClr val="000000"/>
              </a:solidFill>
              <a:latin typeface="전기안전체 Bold" pitchFamily="50" charset="-127"/>
              <a:ea typeface="전기안전체 Bold" pitchFamily="50" charset="-127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7982995" y="2083432"/>
            <a:ext cx="2946400" cy="5588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99600"/>
              </a:lnSpc>
              <a:defRPr/>
            </a:pPr>
            <a:r>
              <a:rPr lang="en-US" altLang="ko-KR" sz="4800" b="0" i="0" u="none" strike="noStrike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2.</a:t>
            </a:r>
            <a:r>
              <a:rPr lang="ko-KR" sz="4800" b="0" i="0" u="none" strike="noStrike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개발</a:t>
            </a:r>
            <a:r>
              <a:rPr lang="en-US" sz="4800" b="0" i="0" u="none" strike="noStrike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4800" b="0" i="0" u="none" strike="noStrike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일정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174520" y="2882357"/>
            <a:ext cx="4635500" cy="4318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24499"/>
              </a:lnSpc>
              <a:defRPr/>
            </a:pPr>
            <a:r>
              <a:rPr lang="en-US" sz="3200" b="0" i="0" u="none" strike="noStrike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- </a:t>
            </a:r>
            <a:r>
              <a:rPr lang="ko-KR" sz="3200" b="0" i="0" u="none" strike="noStrike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프로젝</a:t>
            </a:r>
            <a:r>
              <a:rPr lang="ko-KR" altLang="en-US" sz="3200" b="0" i="0" u="none" strike="noStrike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트 일정</a:t>
            </a:r>
          </a:p>
          <a:p>
            <a:pPr lvl="0" algn="l">
              <a:lnSpc>
                <a:spcPct val="124499"/>
              </a:lnSpc>
              <a:defRPr/>
            </a:pPr>
            <a:r>
              <a:rPr lang="en-US" altLang="ko-KR" sz="3200" b="0" i="0" u="none" strike="noStrike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-</a:t>
            </a:r>
            <a:r>
              <a:rPr lang="ko-KR" altLang="en-US" sz="3200" b="0" i="0" u="none" strike="noStrike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3200" b="0" i="0" u="none" strike="noStrike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공정표</a:t>
            </a:r>
          </a:p>
        </p:txBody>
      </p:sp>
      <p:sp>
        <p:nvSpPr>
          <p:cNvPr id="7" name="TextBox 15">
            <a:extLst>
              <a:ext uri="{FF2B5EF4-FFF2-40B4-BE49-F238E27FC236}">
                <a16:creationId xmlns:a16="http://schemas.microsoft.com/office/drawing/2014/main" id="{EB02C51A-1597-414B-F541-615BCB9AE30C}"/>
              </a:ext>
            </a:extLst>
          </p:cNvPr>
          <p:cNvSpPr txBox="1"/>
          <p:nvPr/>
        </p:nvSpPr>
        <p:spPr>
          <a:xfrm>
            <a:off x="8174520" y="6886651"/>
            <a:ext cx="2756866" cy="1747493"/>
          </a:xfrm>
          <a:prstGeom prst="rect">
            <a:avLst/>
          </a:prstGeom>
        </p:spPr>
        <p:txBody>
          <a:bodyPr lIns="0" tIns="0" rIns="0" bIns="0" anchor="t"/>
          <a:lstStyle/>
          <a:p>
            <a:pPr marL="457200" lvl="0" indent="-457200" algn="l">
              <a:lnSpc>
                <a:spcPct val="124499"/>
              </a:lnSpc>
              <a:buFontTx/>
              <a:buChar char="-"/>
              <a:defRPr/>
            </a:pPr>
            <a:r>
              <a:rPr lang="ko-KR" altLang="en-US" sz="3200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시연</a:t>
            </a:r>
            <a:endParaRPr lang="en-US" altLang="ko-KR" sz="3200" spc="-100" dirty="0">
              <a:solidFill>
                <a:srgbClr val="000000"/>
              </a:solidFill>
              <a:latin typeface="전기안전체 Bold" pitchFamily="50" charset="-127"/>
              <a:ea typeface="전기안전체 Bold" pitchFamily="50" charset="-127"/>
            </a:endParaRPr>
          </a:p>
          <a:p>
            <a:pPr marL="457200" lvl="0" indent="-457200" algn="l">
              <a:lnSpc>
                <a:spcPct val="124499"/>
              </a:lnSpc>
              <a:buFontTx/>
              <a:buChar char="-"/>
              <a:defRPr/>
            </a:pPr>
            <a:r>
              <a:rPr lang="ko-KR" altLang="en-US" sz="32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트러블 슈팅</a:t>
            </a:r>
            <a:endParaRPr lang="ko-KR" sz="3200" b="0" i="0" u="none" strike="noStrike" spc="-100" dirty="0">
              <a:solidFill>
                <a:srgbClr val="000000"/>
              </a:solidFill>
              <a:latin typeface="전기안전체 Bold" pitchFamily="50" charset="-127"/>
              <a:ea typeface="전기안전체 Bold" pitchFamily="50" charset="-127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787400" y="4013200"/>
            <a:ext cx="5994400" cy="5994400"/>
          </a:xfrm>
          <a:prstGeom prst="rect">
            <a:avLst/>
          </a:prstGeom>
          <a:blipFill rotWithShape="1">
            <a:blip r:embed="rId3">
              <a:alphaModFix/>
              <a:lum/>
              <a:extLst>
                <a:ext uri="783A4284-B454-46f5-B8C8-42B5039CE256">
                  <hp:hncPhoto xmlns="" xmlns:c="http://schemas.openxmlformats.org/drawingml/2006/chart" xmlns:dgm="http://schemas.openxmlformats.org/drawingml/2006/diagram" xmlns:dsp="http://schemas.microsoft.com/office/drawing/2008/diagram" xmlns:hp="http://schemas.haansoft.com/office/presentation/8.0">
                    <hd:imgLayer xmlns:hd="http://schemas.haansoft.com/office/drawingml/8.0" r:embed="rId4">
                      <hd:imgEffect xmlns:hd="http://schemas.haansoft.com/office/drawingml/8.0">
                        <hd:artEffectGlowDiffused/>
                      </hd:imgEffect>
                    </hd:imgLayer>
                  </hp:hncPhoto>
                </a:ext>
              </a:extLst>
            </a:blip>
            <a:srcRect/>
            <a:tile tx="0" ty="0" sx="100000" sy="100000" flip="none" algn="tl"/>
          </a:blipFill>
        </p:spPr>
      </p:pic>
      <p:pic>
        <p:nvPicPr>
          <p:cNvPr id="3" name="Picture 3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10800000">
            <a:off x="1270000" y="495300"/>
            <a:ext cx="1066800" cy="4953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1270000" y="1193800"/>
            <a:ext cx="13703300" cy="1066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09559"/>
              </a:lnSpc>
              <a:defRPr/>
            </a:pPr>
            <a:r>
              <a:rPr lang="en-US" altLang="ko-KR" sz="6000" b="0" i="0" u="none" strike="noStrike" spc="-4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altLang="en-US" sz="6000" b="0" i="0" u="none" strike="noStrike" spc="-4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팀원 소개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70000" y="2349500"/>
            <a:ext cx="7721600" cy="533400"/>
          </a:xfrm>
          <a:prstGeom prst="rect">
            <a:avLst/>
          </a:prstGeom>
        </p:spPr>
        <p:txBody>
          <a:bodyPr lIns="0" tIns="0" rIns="0" bIns="0" anchor="b"/>
          <a:lstStyle/>
          <a:p>
            <a:pPr lvl="0" algn="l">
              <a:lnSpc>
                <a:spcPct val="99600"/>
              </a:lnSpc>
              <a:defRPr/>
            </a:pPr>
            <a:endParaRPr lang="en-US" sz="2700" b="0" i="0" u="none" strike="noStrike" dirty="0">
              <a:solidFill>
                <a:srgbClr val="000000"/>
              </a:solidFill>
              <a:latin typeface="전기안전체 Bold" pitchFamily="50" charset="-127"/>
              <a:ea typeface="전기안전체 Bold" pitchFamily="50" charset="-127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7693439" y="4064000"/>
            <a:ext cx="3789846" cy="27178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99600"/>
              </a:lnSpc>
              <a:defRPr/>
            </a:pPr>
            <a:r>
              <a:rPr lang="ko-KR" altLang="en-US" sz="4000" b="0" i="0" u="none" strike="noStrike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박제성</a:t>
            </a:r>
            <a:endParaRPr lang="en-US" altLang="ko-KR" sz="4000" dirty="0">
              <a:solidFill>
                <a:srgbClr val="000000"/>
              </a:solidFill>
              <a:latin typeface="전기안전체 Bold" pitchFamily="50" charset="-127"/>
              <a:ea typeface="전기안전체 Bold" pitchFamily="50" charset="-127"/>
            </a:endParaRPr>
          </a:p>
          <a:p>
            <a:pPr lvl="0" algn="l">
              <a:lnSpc>
                <a:spcPct val="99600"/>
              </a:lnSpc>
              <a:defRPr/>
            </a:pPr>
            <a:r>
              <a:rPr lang="en-US" altLang="ko-KR" sz="24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en-US" altLang="ko-KR" sz="28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- </a:t>
            </a:r>
            <a:r>
              <a:rPr lang="ko-KR" altLang="en-US" sz="28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추천 시스템</a:t>
            </a:r>
            <a:endParaRPr lang="en-US" altLang="ko-KR" sz="2800" dirty="0">
              <a:solidFill>
                <a:srgbClr val="000000"/>
              </a:solidFill>
              <a:latin typeface="전기안전체 Bold" pitchFamily="50" charset="-127"/>
              <a:ea typeface="전기안전체 Bold" pitchFamily="50" charset="-127"/>
            </a:endParaRPr>
          </a:p>
          <a:p>
            <a:pPr lvl="0" algn="l">
              <a:lnSpc>
                <a:spcPct val="99600"/>
              </a:lnSpc>
              <a:defRPr/>
            </a:pPr>
            <a:r>
              <a:rPr lang="en-US" altLang="ko-KR" sz="28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- </a:t>
            </a:r>
            <a:r>
              <a:rPr lang="ko-KR" altLang="en-US" sz="28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상품 페이지 연결</a:t>
            </a:r>
            <a:endParaRPr lang="en-US" altLang="ko-KR" sz="2800" dirty="0">
              <a:solidFill>
                <a:srgbClr val="000000"/>
              </a:solidFill>
              <a:latin typeface="전기안전체 Bold" pitchFamily="50" charset="-127"/>
              <a:ea typeface="전기안전체 Bold" pitchFamily="50" charset="-127"/>
            </a:endParaRPr>
          </a:p>
        </p:txBody>
      </p:sp>
      <p:pic>
        <p:nvPicPr>
          <p:cNvPr id="13" name="Picture 4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 rot="10800000">
            <a:off x="-114300" y="3009900"/>
            <a:ext cx="15887700" cy="495300"/>
          </a:xfrm>
          <a:prstGeom prst="rect">
            <a:avLst/>
          </a:prstGeom>
        </p:spPr>
      </p:pic>
      <p:pic>
        <p:nvPicPr>
          <p:cNvPr id="14" name="Picture 5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 rot="7680000">
            <a:off x="14848650" y="1293905"/>
            <a:ext cx="4445000" cy="495300"/>
          </a:xfrm>
          <a:prstGeom prst="rect">
            <a:avLst/>
          </a:prstGeom>
        </p:spPr>
      </p:pic>
      <p:sp>
        <p:nvSpPr>
          <p:cNvPr id="4" name="TextBox 11">
            <a:extLst>
              <a:ext uri="{FF2B5EF4-FFF2-40B4-BE49-F238E27FC236}">
                <a16:creationId xmlns:a16="http://schemas.microsoft.com/office/drawing/2014/main" id="{C7138E01-C0D9-4CFD-90A6-2DF791810BAD}"/>
              </a:ext>
            </a:extLst>
          </p:cNvPr>
          <p:cNvSpPr txBox="1"/>
          <p:nvPr/>
        </p:nvSpPr>
        <p:spPr>
          <a:xfrm>
            <a:off x="11826185" y="4064000"/>
            <a:ext cx="4252015" cy="2442817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99600"/>
              </a:lnSpc>
              <a:defRPr/>
            </a:pPr>
            <a:r>
              <a:rPr lang="ko-KR" altLang="en-US" sz="4000" b="0" i="0" u="none" strike="noStrike" dirty="0" err="1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강승엄</a:t>
            </a:r>
            <a:endParaRPr lang="en-US" altLang="ko-KR" sz="4000" b="0" i="0" u="none" strike="noStrike" dirty="0">
              <a:solidFill>
                <a:srgbClr val="000000"/>
              </a:solidFill>
              <a:latin typeface="전기안전체 Bold" pitchFamily="50" charset="-127"/>
              <a:ea typeface="전기안전체 Bold" pitchFamily="50" charset="-127"/>
            </a:endParaRPr>
          </a:p>
          <a:p>
            <a:pPr lvl="0" algn="l">
              <a:lnSpc>
                <a:spcPct val="99600"/>
              </a:lnSpc>
              <a:defRPr/>
            </a:pPr>
            <a:r>
              <a:rPr lang="en-US" altLang="ko-KR" sz="28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   - </a:t>
            </a:r>
            <a:r>
              <a:rPr lang="ko-KR" altLang="en-US" sz="28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마이 페이지</a:t>
            </a:r>
            <a:endParaRPr lang="en-US" altLang="ko-KR" sz="2800" dirty="0">
              <a:solidFill>
                <a:srgbClr val="000000"/>
              </a:solidFill>
              <a:latin typeface="전기안전체 Bold" pitchFamily="50" charset="-127"/>
              <a:ea typeface="전기안전체 Bold" pitchFamily="50" charset="-127"/>
            </a:endParaRPr>
          </a:p>
          <a:p>
            <a:pPr lvl="0" algn="l">
              <a:lnSpc>
                <a:spcPct val="99600"/>
              </a:lnSpc>
              <a:defRPr/>
            </a:pPr>
            <a:r>
              <a:rPr lang="en-US" altLang="ko-KR" sz="2800" b="0" i="0" u="none" strike="noStrike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   - </a:t>
            </a:r>
            <a:r>
              <a:rPr lang="ko-KR" altLang="en-US" sz="28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스케쥴 페이지</a:t>
            </a:r>
            <a:endParaRPr lang="en-US" altLang="ko-KR" sz="2800" dirty="0">
              <a:solidFill>
                <a:srgbClr val="000000"/>
              </a:solidFill>
              <a:latin typeface="전기안전체 Bold" pitchFamily="50" charset="-127"/>
              <a:ea typeface="전기안전체 Bold" pitchFamily="50" charset="-127"/>
            </a:endParaRPr>
          </a:p>
          <a:p>
            <a:pPr lvl="0" algn="l">
              <a:lnSpc>
                <a:spcPct val="99600"/>
              </a:lnSpc>
              <a:defRPr/>
            </a:pPr>
            <a:endParaRPr lang="ko-KR" altLang="en-US" sz="2400" b="0" i="0" u="none" strike="noStrike" dirty="0">
              <a:solidFill>
                <a:srgbClr val="000000"/>
              </a:solidFill>
              <a:latin typeface="전기안전체 Bold" pitchFamily="50" charset="-127"/>
              <a:ea typeface="전기안전체 Bold" pitchFamily="50" charset="-127"/>
            </a:endParaRPr>
          </a:p>
        </p:txBody>
      </p:sp>
      <p:sp>
        <p:nvSpPr>
          <p:cNvPr id="5" name="TextBox 11">
            <a:extLst>
              <a:ext uri="{FF2B5EF4-FFF2-40B4-BE49-F238E27FC236}">
                <a16:creationId xmlns:a16="http://schemas.microsoft.com/office/drawing/2014/main" id="{0CE470D8-36A9-935F-84BA-0768FF12E45F}"/>
              </a:ext>
            </a:extLst>
          </p:cNvPr>
          <p:cNvSpPr txBox="1"/>
          <p:nvPr/>
        </p:nvSpPr>
        <p:spPr>
          <a:xfrm>
            <a:off x="7693439" y="6870700"/>
            <a:ext cx="3812763" cy="29845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99600"/>
              </a:lnSpc>
              <a:defRPr/>
            </a:pPr>
            <a:r>
              <a:rPr lang="ko-KR" altLang="en-US" sz="4000" b="0" i="0" u="none" strike="noStrike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김상현</a:t>
            </a:r>
            <a:endParaRPr lang="en-US" altLang="ko-KR" sz="4000" b="0" i="0" u="none" strike="noStrike" dirty="0">
              <a:solidFill>
                <a:srgbClr val="000000"/>
              </a:solidFill>
              <a:latin typeface="전기안전체 Bold" pitchFamily="50" charset="-127"/>
              <a:ea typeface="전기안전체 Bold" pitchFamily="50" charset="-127"/>
            </a:endParaRPr>
          </a:p>
          <a:p>
            <a:pPr lvl="0" algn="l">
              <a:lnSpc>
                <a:spcPct val="99600"/>
              </a:lnSpc>
              <a:defRPr/>
            </a:pPr>
            <a:r>
              <a:rPr lang="en-US" altLang="ko-KR" sz="2800" b="0" i="0" u="none" strike="noStrike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 - </a:t>
            </a:r>
            <a:r>
              <a:rPr lang="ko-KR" altLang="en-US" sz="2800" b="0" i="0" u="none" strike="noStrike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상품 검색</a:t>
            </a:r>
            <a:endParaRPr lang="en-US" altLang="ko-KR" sz="2800" b="0" i="0" u="none" strike="noStrike" dirty="0">
              <a:solidFill>
                <a:srgbClr val="000000"/>
              </a:solidFill>
              <a:latin typeface="전기안전체 Bold" pitchFamily="50" charset="-127"/>
              <a:ea typeface="전기안전체 Bold" pitchFamily="50" charset="-127"/>
            </a:endParaRPr>
          </a:p>
          <a:p>
            <a:pPr lvl="0" algn="l">
              <a:lnSpc>
                <a:spcPct val="99600"/>
              </a:lnSpc>
              <a:defRPr/>
            </a:pPr>
            <a:r>
              <a:rPr lang="en-US" altLang="ko-KR" sz="2800" b="0" i="0" u="none" strike="noStrike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 - </a:t>
            </a:r>
            <a:r>
              <a:rPr lang="ko-KR" altLang="en-US" sz="28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로그인 및 </a:t>
            </a:r>
            <a:r>
              <a:rPr lang="ko-KR" altLang="en-US" sz="2800" b="0" i="0" u="none" strike="noStrike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회원 가입 </a:t>
            </a:r>
            <a:endParaRPr lang="en-US" altLang="ko-KR" sz="2800" b="0" i="0" u="none" strike="noStrike" dirty="0">
              <a:solidFill>
                <a:srgbClr val="000000"/>
              </a:solidFill>
              <a:latin typeface="전기안전체 Bold" pitchFamily="50" charset="-127"/>
              <a:ea typeface="전기안전체 Bold" pitchFamily="50" charset="-127"/>
            </a:endParaRPr>
          </a:p>
          <a:p>
            <a:pPr lvl="0" algn="l">
              <a:lnSpc>
                <a:spcPct val="99600"/>
              </a:lnSpc>
              <a:defRPr/>
            </a:pPr>
            <a:r>
              <a:rPr lang="en-US" altLang="ko-KR" sz="24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 </a:t>
            </a:r>
            <a:r>
              <a:rPr lang="en-US" altLang="ko-KR" sz="2400" b="0" i="0" u="none" strike="noStrike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	</a:t>
            </a:r>
            <a:endParaRPr lang="ko-KR" altLang="en-US" sz="2400" b="0" i="0" u="none" strike="noStrike" dirty="0">
              <a:solidFill>
                <a:srgbClr val="000000"/>
              </a:solidFill>
              <a:latin typeface="전기안전체 Bold" pitchFamily="50" charset="-127"/>
              <a:ea typeface="전기안전체 Bold" pitchFamily="50" charset="-127"/>
            </a:endParaRPr>
          </a:p>
        </p:txBody>
      </p:sp>
      <p:sp>
        <p:nvSpPr>
          <p:cNvPr id="8" name="TextBox 11">
            <a:extLst>
              <a:ext uri="{FF2B5EF4-FFF2-40B4-BE49-F238E27FC236}">
                <a16:creationId xmlns:a16="http://schemas.microsoft.com/office/drawing/2014/main" id="{76AB8025-DB05-EA2E-D289-6D480E6E279A}"/>
              </a:ext>
            </a:extLst>
          </p:cNvPr>
          <p:cNvSpPr txBox="1"/>
          <p:nvPr/>
        </p:nvSpPr>
        <p:spPr>
          <a:xfrm>
            <a:off x="11826185" y="6940550"/>
            <a:ext cx="3909115" cy="28448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99600"/>
              </a:lnSpc>
              <a:defRPr/>
            </a:pPr>
            <a:r>
              <a:rPr lang="ko-KR" altLang="en-US" sz="4000" dirty="0" err="1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심유정</a:t>
            </a:r>
            <a:endParaRPr lang="en-US" altLang="ko-KR" sz="4000" dirty="0">
              <a:solidFill>
                <a:srgbClr val="000000"/>
              </a:solidFill>
              <a:latin typeface="전기안전체 Bold" pitchFamily="50" charset="-127"/>
              <a:ea typeface="전기안전체 Bold" pitchFamily="50" charset="-127"/>
            </a:endParaRPr>
          </a:p>
          <a:p>
            <a:pPr lvl="0" algn="l">
              <a:lnSpc>
                <a:spcPct val="99600"/>
              </a:lnSpc>
              <a:defRPr/>
            </a:pPr>
            <a:r>
              <a:rPr lang="en-US" altLang="ko-KR" sz="28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   - </a:t>
            </a:r>
            <a:r>
              <a:rPr lang="ko-KR" altLang="en-US" sz="28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공지사항</a:t>
            </a:r>
            <a:endParaRPr lang="en-US" altLang="ko-KR" sz="2800" dirty="0">
              <a:solidFill>
                <a:srgbClr val="000000"/>
              </a:solidFill>
              <a:latin typeface="전기안전체 Bold" pitchFamily="50" charset="-127"/>
              <a:ea typeface="전기안전체 Bold" pitchFamily="50" charset="-127"/>
            </a:endParaRPr>
          </a:p>
          <a:p>
            <a:pPr lvl="0" algn="l">
              <a:lnSpc>
                <a:spcPct val="99600"/>
              </a:lnSpc>
              <a:defRPr/>
            </a:pPr>
            <a:r>
              <a:rPr lang="en-US" altLang="ko-KR" sz="28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   - </a:t>
            </a:r>
            <a:r>
              <a:rPr lang="ko-KR" altLang="en-US" sz="28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리뷰 게시판</a:t>
            </a:r>
            <a:endParaRPr lang="en-US" altLang="ko-KR" sz="2800" dirty="0">
              <a:solidFill>
                <a:srgbClr val="000000"/>
              </a:solidFill>
              <a:latin typeface="전기안전체 Bold" pitchFamily="50" charset="-127"/>
              <a:ea typeface="전기안전체 Bold" pitchFamily="50" charset="-127"/>
            </a:endParaRPr>
          </a:p>
          <a:p>
            <a:pPr lvl="0" algn="l">
              <a:lnSpc>
                <a:spcPct val="99600"/>
              </a:lnSpc>
              <a:defRPr/>
            </a:pPr>
            <a:endParaRPr lang="ko-KR" altLang="en-US" sz="2800" b="0" i="0" u="none" strike="noStrike" dirty="0">
              <a:solidFill>
                <a:srgbClr val="000000"/>
              </a:solidFill>
              <a:latin typeface="전기안전체 Bold" pitchFamily="50" charset="-127"/>
              <a:ea typeface="전기안전체 Bold" pitchFamily="50" charset="-127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>
            <a:alphaModFix amt="81000"/>
          </a:blip>
          <a:stretch>
            <a:fillRect/>
          </a:stretch>
        </p:blipFill>
        <p:spPr>
          <a:xfrm>
            <a:off x="228600" y="3702368"/>
            <a:ext cx="7150100" cy="6350000"/>
          </a:xfrm>
          <a:prstGeom prst="rect">
            <a:avLst/>
          </a:prstGeom>
          <a:effectLst>
            <a:outerShdw blurRad="301028" dist="439500" dir="2700000">
              <a:srgbClr val="000000">
                <a:alpha val="50000"/>
              </a:srgbClr>
            </a:outerShdw>
          </a:effectLst>
        </p:spPr>
      </p:pic>
      <p:pic>
        <p:nvPicPr>
          <p:cNvPr id="3" name="Picture 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 rot="10800000">
            <a:off x="1270000" y="495300"/>
            <a:ext cx="1066800" cy="4953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1600200" y="2063613"/>
            <a:ext cx="9715500" cy="7874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28399"/>
              </a:lnSpc>
              <a:defRPr/>
            </a:pPr>
            <a:r>
              <a:rPr lang="ko-KR" sz="24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코로나</a:t>
            </a:r>
            <a:r>
              <a:rPr lang="en-US" sz="24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4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이후</a:t>
            </a:r>
            <a:r>
              <a:rPr lang="en-US" sz="24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4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건강</a:t>
            </a:r>
            <a:r>
              <a:rPr lang="en-US" sz="24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4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기능</a:t>
            </a:r>
            <a:r>
              <a:rPr lang="en-US" sz="24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4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식품</a:t>
            </a:r>
            <a:r>
              <a:rPr lang="en-US" sz="24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4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관심</a:t>
            </a:r>
            <a:r>
              <a:rPr lang="en-US" sz="24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4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증가</a:t>
            </a:r>
            <a:r>
              <a:rPr lang="en-US" sz="24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, </a:t>
            </a:r>
          </a:p>
          <a:p>
            <a:pPr lvl="0" algn="l">
              <a:lnSpc>
                <a:spcPct val="128399"/>
              </a:lnSpc>
              <a:defRPr/>
            </a:pPr>
            <a:r>
              <a:rPr lang="ko-KR" sz="24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의학</a:t>
            </a:r>
            <a:r>
              <a:rPr lang="en-US" sz="24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4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발전과</a:t>
            </a:r>
            <a:r>
              <a:rPr lang="en-US" sz="24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4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고령화로</a:t>
            </a:r>
            <a:r>
              <a:rPr lang="en-US" sz="24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4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인한</a:t>
            </a:r>
            <a:r>
              <a:rPr lang="en-US" sz="24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4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건강한</a:t>
            </a:r>
            <a:r>
              <a:rPr lang="en-US" sz="24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4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장수</a:t>
            </a:r>
            <a:r>
              <a:rPr lang="en-US" sz="24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4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중요성</a:t>
            </a:r>
            <a:r>
              <a:rPr lang="en-US" sz="24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4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부각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70000" y="942906"/>
            <a:ext cx="13703300" cy="1066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09559"/>
              </a:lnSpc>
              <a:defRPr/>
            </a:pPr>
            <a:r>
              <a:rPr lang="ko-KR" sz="6000" b="0" i="0" u="none" strike="noStrike" spc="-4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웹</a:t>
            </a:r>
            <a:r>
              <a:rPr lang="en-US" sz="6000" b="0" i="0" u="none" strike="noStrike" spc="-4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6000" b="0" i="0" u="none" strike="noStrike" spc="-4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서비스</a:t>
            </a:r>
            <a:r>
              <a:rPr lang="en-US" sz="6000" b="0" i="0" u="none" strike="noStrike" spc="-4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6000" b="0" i="0" u="none" strike="noStrike" spc="-4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기획의</a:t>
            </a:r>
            <a:r>
              <a:rPr lang="en-US" sz="6000" b="0" i="0" u="none" strike="noStrike" spc="-4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6000" b="0" i="0" u="none" strike="noStrike" spc="-4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배경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229600" y="4022951"/>
            <a:ext cx="7721600" cy="533400"/>
          </a:xfrm>
          <a:prstGeom prst="rect">
            <a:avLst/>
          </a:prstGeom>
        </p:spPr>
        <p:txBody>
          <a:bodyPr lIns="0" tIns="0" rIns="0" bIns="0" anchor="b"/>
          <a:lstStyle/>
          <a:p>
            <a:pPr lvl="0" algn="l">
              <a:lnSpc>
                <a:spcPct val="99600"/>
              </a:lnSpc>
              <a:defRPr/>
            </a:pPr>
            <a:r>
              <a:rPr lang="ko-KR" sz="4400" b="0" i="0" u="none" strike="noStrike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건강</a:t>
            </a:r>
            <a:r>
              <a:rPr lang="en-US" sz="4400" b="0" i="0" u="none" strike="noStrike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4400" b="0" i="0" u="none" strike="noStrike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관리의</a:t>
            </a:r>
            <a:r>
              <a:rPr lang="en-US" sz="4400" b="0" i="0" u="none" strike="noStrike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4400" b="0" i="0" u="none" strike="noStrike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중요성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610600" y="4705212"/>
            <a:ext cx="7696200" cy="13462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24499"/>
              </a:lnSpc>
              <a:defRPr/>
            </a:pPr>
            <a:r>
              <a:rPr lang="en-US" sz="32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- </a:t>
            </a:r>
            <a:r>
              <a:rPr lang="ko-KR" sz="32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저속</a:t>
            </a:r>
            <a:r>
              <a:rPr lang="en-US" sz="32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32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노화</a:t>
            </a:r>
            <a:r>
              <a:rPr lang="en-US" sz="32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, </a:t>
            </a:r>
            <a:r>
              <a:rPr lang="ko-KR" sz="32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저당</a:t>
            </a:r>
            <a:r>
              <a:rPr lang="en-US" sz="32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32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트렌드</a:t>
            </a:r>
          </a:p>
          <a:p>
            <a:pPr lvl="0" algn="l">
              <a:lnSpc>
                <a:spcPct val="124499"/>
              </a:lnSpc>
              <a:defRPr/>
            </a:pPr>
            <a:r>
              <a:rPr lang="en-US" sz="32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- </a:t>
            </a:r>
            <a:r>
              <a:rPr lang="ko-KR" sz="32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개인화된</a:t>
            </a:r>
            <a:r>
              <a:rPr lang="en-US" sz="32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32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건강</a:t>
            </a:r>
            <a:r>
              <a:rPr lang="en-US" sz="32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32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관리</a:t>
            </a:r>
            <a:r>
              <a:rPr lang="en-US" sz="32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32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요구</a:t>
            </a:r>
            <a:r>
              <a:rPr lang="en-US" sz="32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32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증가</a:t>
            </a:r>
          </a:p>
          <a:p>
            <a:pPr lvl="0" algn="l">
              <a:lnSpc>
                <a:spcPct val="124499"/>
              </a:lnSpc>
              <a:defRPr/>
            </a:pPr>
            <a:r>
              <a:rPr lang="en-US" sz="32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- </a:t>
            </a:r>
            <a:r>
              <a:rPr lang="ko-KR" sz="32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예방</a:t>
            </a:r>
            <a:r>
              <a:rPr lang="en-US" sz="32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32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중심의</a:t>
            </a:r>
            <a:r>
              <a:rPr lang="en-US" sz="32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32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건강</a:t>
            </a:r>
            <a:r>
              <a:rPr lang="en-US" sz="32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32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관리</a:t>
            </a:r>
            <a:r>
              <a:rPr lang="en-US" sz="32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32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중요성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305800" y="6984999"/>
            <a:ext cx="7721600" cy="533400"/>
          </a:xfrm>
          <a:prstGeom prst="rect">
            <a:avLst/>
          </a:prstGeom>
        </p:spPr>
        <p:txBody>
          <a:bodyPr lIns="0" tIns="0" rIns="0" bIns="0" anchor="b"/>
          <a:lstStyle/>
          <a:p>
            <a:pPr lvl="0" algn="l">
              <a:lnSpc>
                <a:spcPct val="99600"/>
              </a:lnSpc>
              <a:defRPr/>
            </a:pPr>
            <a:r>
              <a:rPr lang="ko-KR" sz="4400" b="0" i="0" u="none" strike="noStrike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맞춤형</a:t>
            </a:r>
            <a:r>
              <a:rPr lang="en-US" sz="4400" b="0" i="0" u="none" strike="noStrike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4400" b="0" i="0" u="none" strike="noStrike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서비스</a:t>
            </a:r>
            <a:r>
              <a:rPr lang="en-US" sz="4400" b="0" i="0" u="none" strike="noStrike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4400" b="0" i="0" u="none" strike="noStrike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필요성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610600" y="7658100"/>
            <a:ext cx="7696200" cy="13462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24499"/>
              </a:lnSpc>
              <a:defRPr/>
            </a:pPr>
            <a:r>
              <a:rPr lang="en-US" sz="32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- </a:t>
            </a:r>
            <a:r>
              <a:rPr lang="ko-KR" sz="32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다양한</a:t>
            </a:r>
            <a:r>
              <a:rPr lang="en-US" sz="32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32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영양제</a:t>
            </a:r>
            <a:r>
              <a:rPr lang="en-US" sz="32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32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정보</a:t>
            </a:r>
            <a:r>
              <a:rPr lang="en-US" sz="32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32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부족</a:t>
            </a:r>
          </a:p>
          <a:p>
            <a:pPr lvl="0" algn="l">
              <a:lnSpc>
                <a:spcPct val="124499"/>
              </a:lnSpc>
              <a:defRPr/>
            </a:pPr>
            <a:r>
              <a:rPr lang="en-US" sz="32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- </a:t>
            </a:r>
            <a:r>
              <a:rPr lang="ko-KR" sz="32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개인별</a:t>
            </a:r>
            <a:r>
              <a:rPr lang="en-US" sz="32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32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맞춤</a:t>
            </a:r>
            <a:r>
              <a:rPr lang="en-US" sz="32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32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추천의</a:t>
            </a:r>
            <a:r>
              <a:rPr lang="en-US" sz="32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32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필요성</a:t>
            </a:r>
          </a:p>
          <a:p>
            <a:pPr lvl="0" algn="l">
              <a:lnSpc>
                <a:spcPct val="124499"/>
              </a:lnSpc>
              <a:defRPr/>
            </a:pPr>
            <a:r>
              <a:rPr lang="en-US" sz="32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- </a:t>
            </a:r>
            <a:r>
              <a:rPr lang="ko-KR" sz="32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지속적인</a:t>
            </a:r>
            <a:r>
              <a:rPr lang="en-US" sz="32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32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건강</a:t>
            </a:r>
            <a:r>
              <a:rPr lang="en-US" sz="32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32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관리</a:t>
            </a:r>
            <a:r>
              <a:rPr lang="en-US" sz="32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32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지원</a:t>
            </a:r>
            <a:r>
              <a:rPr lang="en-US" sz="32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32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요구</a:t>
            </a:r>
          </a:p>
        </p:txBody>
      </p:sp>
      <p:pic>
        <p:nvPicPr>
          <p:cNvPr id="12" name="Picture 4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0800000">
            <a:off x="-114300" y="3009900"/>
            <a:ext cx="15887700" cy="495300"/>
          </a:xfrm>
          <a:prstGeom prst="rect">
            <a:avLst/>
          </a:prstGeom>
        </p:spPr>
      </p:pic>
      <p:pic>
        <p:nvPicPr>
          <p:cNvPr id="13" name="Picture 5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7680000">
            <a:off x="14848650" y="1293905"/>
            <a:ext cx="4445000" cy="4953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>
            <a:alphaModFix amt="99000"/>
          </a:blip>
          <a:stretch>
            <a:fillRect/>
          </a:stretch>
        </p:blipFill>
        <p:spPr>
          <a:xfrm>
            <a:off x="0" y="3505201"/>
            <a:ext cx="7315200" cy="6417547"/>
          </a:xfrm>
          <a:prstGeom prst="rect">
            <a:avLst/>
          </a:prstGeom>
          <a:effectLst>
            <a:outerShdw blurRad="301028" dist="256375" dir="2700000">
              <a:srgbClr val="000000">
                <a:alpha val="50000"/>
              </a:srgbClr>
            </a:outerShdw>
          </a:effectLst>
        </p:spPr>
      </p:pic>
      <p:pic>
        <p:nvPicPr>
          <p:cNvPr id="3" name="Picture 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 rot="10800000">
            <a:off x="1270000" y="495300"/>
            <a:ext cx="1066800" cy="4953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1270000" y="1193800"/>
            <a:ext cx="13703300" cy="1066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09559"/>
              </a:lnSpc>
              <a:defRPr/>
            </a:pPr>
            <a:r>
              <a:rPr lang="ko-KR" sz="6000" b="0" i="0" u="none" strike="noStrike" spc="-4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웹</a:t>
            </a:r>
            <a:r>
              <a:rPr lang="en-US" sz="6000" b="0" i="0" u="none" strike="noStrike" spc="-4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6000" b="0" i="0" u="none" strike="noStrike" spc="-4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서비스</a:t>
            </a:r>
            <a:r>
              <a:rPr lang="en-US" sz="6000" b="0" i="0" u="none" strike="noStrike" spc="-4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6000" b="0" i="0" u="none" strike="noStrike" spc="-4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기획의</a:t>
            </a:r>
            <a:r>
              <a:rPr lang="en-US" sz="6000" b="0" i="0" u="none" strike="noStrike" spc="-4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6000" b="0" i="0" u="none" strike="noStrike" spc="-4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배경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71599" y="2400300"/>
            <a:ext cx="10058400" cy="533400"/>
          </a:xfrm>
          <a:prstGeom prst="rect">
            <a:avLst/>
          </a:prstGeom>
        </p:spPr>
        <p:txBody>
          <a:bodyPr lIns="0" tIns="0" rIns="0" bIns="0" anchor="b"/>
          <a:lstStyle/>
          <a:p>
            <a:pPr lvl="0" algn="l">
              <a:lnSpc>
                <a:spcPct val="99600"/>
              </a:lnSpc>
              <a:defRPr/>
            </a:pPr>
            <a:r>
              <a:rPr lang="ko-KR" sz="2700" b="0" i="0" u="none" strike="noStrike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기존에</a:t>
            </a:r>
            <a:r>
              <a:rPr lang="en-US" sz="2700" b="0" i="0" u="none" strike="noStrike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700" b="0" i="0" u="none" strike="noStrike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있는</a:t>
            </a:r>
            <a:r>
              <a:rPr lang="en-US" sz="2700" b="0" i="0" u="none" strike="noStrike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700" b="0" i="0" u="none" strike="noStrike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유사</a:t>
            </a:r>
            <a:r>
              <a:rPr lang="en-US" sz="2700" b="0" i="0" u="none" strike="noStrike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700" b="0" i="0" u="none" strike="noStrike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서비스</a:t>
            </a:r>
            <a:r>
              <a:rPr lang="en-US" sz="2700" b="0" i="0" u="none" strike="noStrike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700" b="0" i="0" u="none" strike="noStrike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들의</a:t>
            </a:r>
            <a:r>
              <a:rPr lang="en-US" sz="2700" b="0" i="0" u="none" strike="noStrike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700" b="0" i="0" u="none" strike="noStrike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한계점과</a:t>
            </a:r>
            <a:r>
              <a:rPr lang="en-US" sz="2700" b="0" i="0" u="none" strike="noStrike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700" b="0" i="0" u="none" strike="noStrike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차별화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950200" y="6918926"/>
            <a:ext cx="7721600" cy="533400"/>
          </a:xfrm>
          <a:prstGeom prst="rect">
            <a:avLst/>
          </a:prstGeom>
        </p:spPr>
        <p:txBody>
          <a:bodyPr lIns="0" tIns="0" rIns="0" bIns="0" anchor="b"/>
          <a:lstStyle/>
          <a:p>
            <a:pPr lvl="0" algn="l">
              <a:lnSpc>
                <a:spcPct val="99600"/>
              </a:lnSpc>
              <a:defRPr/>
            </a:pPr>
            <a:r>
              <a:rPr lang="en-US" sz="3800" b="0" i="0" u="none" strike="noStrike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 </a:t>
            </a:r>
            <a:r>
              <a:rPr lang="ko-KR" sz="3800" b="0" i="0" u="none" strike="noStrike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기존</a:t>
            </a:r>
            <a:r>
              <a:rPr lang="en-US" sz="3800" b="0" i="0" u="none" strike="noStrike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3800" b="0" i="0" u="none" strike="noStrike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서비스와의</a:t>
            </a:r>
            <a:r>
              <a:rPr lang="en-US" sz="3800" b="0" i="0" u="none" strike="noStrike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3800" b="0" i="0" u="none" strike="noStrike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차별화</a:t>
            </a:r>
            <a:r>
              <a:rPr lang="en-US" sz="3800" b="0" i="0" u="none" strike="noStrike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 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147050" y="7716452"/>
            <a:ext cx="8699500" cy="11684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24499"/>
              </a:lnSpc>
              <a:defRPr/>
            </a:pPr>
            <a:r>
              <a:rPr lang="en-US" altLang="ko-KR" sz="23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-</a:t>
            </a:r>
            <a:r>
              <a:rPr lang="ko-KR" altLang="en-US" sz="23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3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간단한</a:t>
            </a:r>
            <a:r>
              <a:rPr lang="en-US" sz="23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3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검색을</a:t>
            </a:r>
            <a:r>
              <a:rPr lang="en-US" sz="23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3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통해</a:t>
            </a:r>
            <a:r>
              <a:rPr lang="en-US" sz="23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“</a:t>
            </a:r>
            <a:r>
              <a:rPr lang="ko-KR" sz="23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현재</a:t>
            </a:r>
            <a:r>
              <a:rPr lang="en-US" sz="23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” </a:t>
            </a:r>
            <a:r>
              <a:rPr lang="ko-KR" sz="23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본인의</a:t>
            </a:r>
            <a:r>
              <a:rPr lang="en-US" altLang="ko-KR" sz="23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altLang="en-US" sz="23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en-US" sz="23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3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건강</a:t>
            </a:r>
            <a:r>
              <a:rPr lang="en-US" sz="23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3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상태에</a:t>
            </a:r>
            <a:r>
              <a:rPr lang="en-US" sz="23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3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필요한</a:t>
            </a:r>
            <a:r>
              <a:rPr lang="en-US" sz="23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3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영양제를</a:t>
            </a:r>
            <a:r>
              <a:rPr lang="en-US" sz="23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3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추천</a:t>
            </a:r>
          </a:p>
          <a:p>
            <a:pPr lvl="0" algn="l">
              <a:lnSpc>
                <a:spcPct val="124499"/>
              </a:lnSpc>
              <a:defRPr/>
            </a:pPr>
            <a:r>
              <a:rPr lang="en-US" altLang="ko-KR" sz="23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-</a:t>
            </a:r>
            <a:r>
              <a:rPr lang="ko-KR" altLang="en-US" sz="23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3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추천해</a:t>
            </a:r>
            <a:r>
              <a:rPr lang="en-US" sz="23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3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준</a:t>
            </a:r>
            <a:r>
              <a:rPr lang="en-US" sz="23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3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영양제들의</a:t>
            </a:r>
            <a:r>
              <a:rPr lang="en-US" sz="23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3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정보를</a:t>
            </a:r>
            <a:r>
              <a:rPr lang="en-US" sz="23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3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확인하고</a:t>
            </a:r>
            <a:r>
              <a:rPr lang="en-US" altLang="ko-KR" sz="23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altLang="en-US" sz="23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en-US" sz="23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3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그</a:t>
            </a:r>
            <a:r>
              <a:rPr lang="en-US" sz="23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3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중</a:t>
            </a:r>
            <a:r>
              <a:rPr lang="en-US" sz="23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3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본인이</a:t>
            </a:r>
            <a:r>
              <a:rPr lang="en-US" sz="23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3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원하는</a:t>
            </a:r>
            <a:r>
              <a:rPr lang="en-US" sz="23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3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영양제를</a:t>
            </a:r>
            <a:r>
              <a:rPr lang="en-US" sz="23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3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구매</a:t>
            </a:r>
          </a:p>
          <a:p>
            <a:pPr lvl="0" algn="l">
              <a:lnSpc>
                <a:spcPct val="124499"/>
              </a:lnSpc>
              <a:defRPr/>
            </a:pPr>
            <a:r>
              <a:rPr lang="en-US" altLang="ko-KR" sz="23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-</a:t>
            </a:r>
            <a:r>
              <a:rPr lang="ko-KR" altLang="en-US" sz="23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3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구매</a:t>
            </a:r>
            <a:r>
              <a:rPr lang="en-US" sz="23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3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후</a:t>
            </a:r>
            <a:r>
              <a:rPr lang="en-US" sz="23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3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꾸준한</a:t>
            </a:r>
            <a:r>
              <a:rPr lang="en-US" sz="23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3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복용까</a:t>
            </a:r>
            <a:r>
              <a:rPr lang="ko-KR" altLang="en-US" sz="23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지 </a:t>
            </a:r>
            <a:r>
              <a:rPr lang="ko-KR" altLang="en-US" sz="2300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관리 </a:t>
            </a:r>
            <a:r>
              <a:rPr lang="ko-KR" altLang="en-US" sz="23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할 수 있음</a:t>
            </a:r>
            <a:endParaRPr lang="ko-KR" sz="2300" b="0" i="0" u="none" strike="noStrike" spc="-100" dirty="0">
              <a:solidFill>
                <a:srgbClr val="000000"/>
              </a:solidFill>
              <a:latin typeface="전기안전체 Bold" pitchFamily="50" charset="-127"/>
              <a:ea typeface="전기안전체 Bold" pitchFamily="50" charset="-127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7956826" y="4216400"/>
            <a:ext cx="2819400" cy="533400"/>
          </a:xfrm>
          <a:prstGeom prst="rect">
            <a:avLst/>
          </a:prstGeom>
        </p:spPr>
        <p:txBody>
          <a:bodyPr lIns="0" tIns="0" rIns="0" bIns="0" anchor="b"/>
          <a:lstStyle/>
          <a:p>
            <a:pPr lvl="0" algn="l">
              <a:lnSpc>
                <a:spcPct val="99600"/>
              </a:lnSpc>
              <a:defRPr/>
            </a:pPr>
            <a:r>
              <a:rPr lang="ko-KR" sz="3200" b="0" i="0" u="none" strike="noStrike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복잡한</a:t>
            </a:r>
            <a:r>
              <a:rPr lang="en-US" sz="3200" b="0" i="0" u="none" strike="noStrike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3200" b="0" i="0" u="none" strike="noStrike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정보</a:t>
            </a:r>
            <a:r>
              <a:rPr lang="en-US" sz="3200" b="0" i="0" u="none" strike="noStrike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3200" b="0" i="0" u="none" strike="noStrike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입력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147050" y="5156751"/>
            <a:ext cx="3670300" cy="1390967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24499"/>
              </a:lnSpc>
              <a:defRPr/>
            </a:pPr>
            <a:r>
              <a:rPr lang="en-US" sz="22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- </a:t>
            </a:r>
            <a:r>
              <a:rPr lang="ko-KR" sz="22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상세한</a:t>
            </a:r>
            <a:r>
              <a:rPr lang="en-US" sz="22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2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건강</a:t>
            </a:r>
            <a:r>
              <a:rPr lang="en-US" sz="22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2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검진</a:t>
            </a:r>
            <a:r>
              <a:rPr lang="en-US" sz="22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2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이력</a:t>
            </a:r>
            <a:r>
              <a:rPr lang="en-US" sz="22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2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요구</a:t>
            </a:r>
          </a:p>
          <a:p>
            <a:pPr lvl="0" algn="l">
              <a:lnSpc>
                <a:spcPct val="124499"/>
              </a:lnSpc>
              <a:defRPr/>
            </a:pPr>
            <a:r>
              <a:rPr lang="en-US" sz="22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- </a:t>
            </a:r>
            <a:r>
              <a:rPr lang="ko-KR" sz="22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복잡하고</a:t>
            </a:r>
            <a:r>
              <a:rPr lang="en-US" sz="22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2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긴</a:t>
            </a:r>
            <a:r>
              <a:rPr lang="en-US" sz="22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2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설문</a:t>
            </a:r>
            <a:r>
              <a:rPr lang="en-US" sz="22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2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과정</a:t>
            </a:r>
          </a:p>
          <a:p>
            <a:pPr lvl="0" algn="l">
              <a:lnSpc>
                <a:spcPct val="124499"/>
              </a:lnSpc>
              <a:defRPr/>
            </a:pPr>
            <a:r>
              <a:rPr lang="en-US" sz="22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- 5</a:t>
            </a:r>
            <a:r>
              <a:rPr lang="ko-KR" sz="22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분</a:t>
            </a:r>
            <a:r>
              <a:rPr lang="en-US" sz="22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2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이상</a:t>
            </a:r>
            <a:r>
              <a:rPr lang="en-US" sz="22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2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소요되는</a:t>
            </a:r>
            <a:r>
              <a:rPr lang="en-US" sz="22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2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정보</a:t>
            </a:r>
            <a:r>
              <a:rPr lang="en-US" sz="22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2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입력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496800" y="4216400"/>
            <a:ext cx="3073400" cy="533400"/>
          </a:xfrm>
          <a:prstGeom prst="rect">
            <a:avLst/>
          </a:prstGeom>
        </p:spPr>
        <p:txBody>
          <a:bodyPr lIns="0" tIns="0" rIns="0" bIns="0" anchor="b"/>
          <a:lstStyle/>
          <a:p>
            <a:pPr lvl="0" algn="l">
              <a:lnSpc>
                <a:spcPct val="99600"/>
              </a:lnSpc>
              <a:defRPr/>
            </a:pPr>
            <a:r>
              <a:rPr lang="ko-KR" sz="3200" b="0" i="0" u="none" strike="noStrike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제한적</a:t>
            </a:r>
            <a:r>
              <a:rPr lang="en-US" sz="3200" b="0" i="0" u="none" strike="noStrike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3200" b="0" i="0" u="none" strike="noStrike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서비스</a:t>
            </a:r>
            <a:r>
              <a:rPr lang="en-US" sz="3200" b="0" i="0" u="none" strike="noStrike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3200" b="0" i="0" u="none" strike="noStrike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범위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721400" y="5093345"/>
            <a:ext cx="4349750" cy="12319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24499"/>
              </a:lnSpc>
              <a:defRPr/>
            </a:pPr>
            <a:r>
              <a:rPr lang="en-US" sz="22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- </a:t>
            </a:r>
            <a:r>
              <a:rPr lang="ko-KR" sz="22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단순</a:t>
            </a:r>
            <a:r>
              <a:rPr lang="en-US" sz="22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2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영양제</a:t>
            </a:r>
            <a:r>
              <a:rPr lang="en-US" sz="22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2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배송에</a:t>
            </a:r>
            <a:r>
              <a:rPr lang="en-US" sz="22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2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그치는</a:t>
            </a:r>
            <a:r>
              <a:rPr lang="en-US" sz="22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2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서비스</a:t>
            </a:r>
          </a:p>
          <a:p>
            <a:pPr lvl="0" algn="l">
              <a:lnSpc>
                <a:spcPct val="124499"/>
              </a:lnSpc>
              <a:defRPr/>
            </a:pPr>
            <a:r>
              <a:rPr lang="en-US" sz="22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- </a:t>
            </a:r>
            <a:r>
              <a:rPr lang="ko-KR" sz="22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지속적인</a:t>
            </a:r>
            <a:r>
              <a:rPr lang="en-US" sz="22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2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건강</a:t>
            </a:r>
            <a:r>
              <a:rPr lang="en-US" sz="22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2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관리</a:t>
            </a:r>
            <a:r>
              <a:rPr lang="en-US" sz="22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2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부재</a:t>
            </a:r>
          </a:p>
          <a:p>
            <a:pPr lvl="0" algn="l">
              <a:lnSpc>
                <a:spcPct val="124499"/>
              </a:lnSpc>
              <a:defRPr/>
            </a:pPr>
            <a:r>
              <a:rPr lang="en-US" sz="22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- </a:t>
            </a:r>
            <a:r>
              <a:rPr lang="ko-KR" sz="22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개인화된</a:t>
            </a:r>
            <a:r>
              <a:rPr lang="en-US" sz="22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2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피드백</a:t>
            </a:r>
            <a:r>
              <a:rPr lang="en-US" sz="22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2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시스템</a:t>
            </a:r>
            <a:r>
              <a:rPr lang="en-US" sz="22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2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미흡</a:t>
            </a:r>
          </a:p>
        </p:txBody>
      </p:sp>
      <p:pic>
        <p:nvPicPr>
          <p:cNvPr id="16" name="Picture 4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0800000">
            <a:off x="-114300" y="3009900"/>
            <a:ext cx="15887700" cy="495300"/>
          </a:xfrm>
          <a:prstGeom prst="rect">
            <a:avLst/>
          </a:prstGeom>
        </p:spPr>
      </p:pic>
      <p:pic>
        <p:nvPicPr>
          <p:cNvPr id="17" name="Picture 5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7680000">
            <a:off x="14848650" y="1293905"/>
            <a:ext cx="4445000" cy="4953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>
            <a:alphaModFix/>
            <a:lum/>
          </a:blip>
          <a:stretch>
            <a:fillRect/>
          </a:stretch>
        </p:blipFill>
        <p:spPr>
          <a:xfrm>
            <a:off x="406400" y="4013200"/>
            <a:ext cx="6756400" cy="5994400"/>
          </a:xfrm>
          <a:prstGeom prst="rect">
            <a:avLst/>
          </a:prstGeom>
          <a:blipFill rotWithShape="1">
            <a:blip r:embed="rId3">
              <a:alphaModFix/>
              <a:lum/>
            </a:blip>
            <a:srcRect/>
            <a:tile tx="0" ty="0" sx="100000" sy="100000" flip="none" algn="tl"/>
          </a:blipFill>
        </p:spPr>
      </p:pic>
      <p:pic>
        <p:nvPicPr>
          <p:cNvPr id="3" name="Picture 3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0800000">
            <a:off x="1270000" y="495300"/>
            <a:ext cx="1066800" cy="4953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1270000" y="1193800"/>
            <a:ext cx="13703300" cy="1066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09559"/>
              </a:lnSpc>
              <a:defRPr/>
            </a:pPr>
            <a:r>
              <a:rPr lang="ko-KR" sz="6000" b="0" i="0" u="none" strike="noStrike" spc="-4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웹</a:t>
            </a:r>
            <a:r>
              <a:rPr lang="en-US" sz="6000" b="0" i="0" u="none" strike="noStrike" spc="-4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6000" b="0" i="0" u="none" strike="noStrike" spc="-4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서비스</a:t>
            </a:r>
            <a:r>
              <a:rPr lang="en-US" sz="6000" b="0" i="0" u="none" strike="noStrike" spc="-4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6000" b="0" i="0" u="none" strike="noStrike" spc="-4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기획의</a:t>
            </a:r>
            <a:r>
              <a:rPr lang="en-US" sz="6000" b="0" i="0" u="none" strike="noStrike" spc="-4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6000" b="0" i="0" u="none" strike="noStrike" spc="-4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배경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70000" y="2349500"/>
            <a:ext cx="7721600" cy="533400"/>
          </a:xfrm>
          <a:prstGeom prst="rect">
            <a:avLst/>
          </a:prstGeom>
        </p:spPr>
        <p:txBody>
          <a:bodyPr lIns="0" tIns="0" rIns="0" bIns="0" anchor="b"/>
          <a:lstStyle/>
          <a:p>
            <a:pPr lvl="0" algn="l">
              <a:lnSpc>
                <a:spcPct val="99600"/>
              </a:lnSpc>
              <a:defRPr/>
            </a:pPr>
            <a:r>
              <a:rPr lang="ko-KR" sz="2700" b="0" i="0" u="none" strike="noStrike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서비스</a:t>
            </a:r>
            <a:r>
              <a:rPr lang="en-US" sz="2700" b="0" i="0" u="none" strike="noStrike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700" b="0" i="0" u="none" strike="noStrike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이름의</a:t>
            </a:r>
            <a:r>
              <a:rPr lang="en-US" sz="2700" b="0" i="0" u="none" strike="noStrike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700" b="0" i="0" u="none" strike="noStrike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선정과</a:t>
            </a:r>
            <a:r>
              <a:rPr lang="en-US" sz="2700" b="0" i="0" u="none" strike="noStrike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700" b="0" i="0" u="none" strike="noStrike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그</a:t>
            </a:r>
            <a:r>
              <a:rPr lang="en-US" sz="2700" b="0" i="0" u="none" strike="noStrike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700" b="0" i="0" u="none" strike="noStrike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이유</a:t>
            </a:r>
            <a:r>
              <a:rPr lang="en-US" sz="2700" b="0" i="0" u="none" strike="noStrike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 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128000" y="6045199"/>
            <a:ext cx="6337300" cy="14859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99600"/>
              </a:lnSpc>
              <a:defRPr/>
            </a:pPr>
            <a:r>
              <a:rPr lang="ko-KR" sz="3300" b="0" i="0" u="none" strike="noStrike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건강</a:t>
            </a:r>
            <a:r>
              <a:rPr lang="en-US" sz="3300" b="0" i="0" u="none" strike="noStrike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3300" b="0" i="0" u="none" strike="noStrike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기능</a:t>
            </a:r>
            <a:r>
              <a:rPr lang="en-US" sz="3300" b="0" i="0" u="none" strike="noStrike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3300" b="0" i="0" u="none" strike="noStrike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식품</a:t>
            </a:r>
            <a:r>
              <a:rPr lang="en-US" sz="3300" b="0" i="0" u="none" strike="noStrike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+ </a:t>
            </a:r>
            <a:r>
              <a:rPr lang="ko-KR" sz="3300" b="0" i="0" u="none" strike="noStrike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그</a:t>
            </a:r>
            <a:r>
              <a:rPr lang="en-US" sz="3300" b="0" i="0" u="none" strike="noStrike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3300" b="0" i="0" u="none" strike="noStrike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것</a:t>
            </a:r>
          </a:p>
          <a:p>
            <a:pPr lvl="0" algn="l">
              <a:lnSpc>
                <a:spcPct val="99600"/>
              </a:lnSpc>
              <a:defRPr/>
            </a:pPr>
            <a:r>
              <a:rPr lang="ko-KR" sz="3300" b="0" i="0" u="none" strike="noStrike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건강</a:t>
            </a:r>
            <a:r>
              <a:rPr lang="en-US" sz="3300" b="0" i="0" u="none" strike="noStrike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3300" b="0" i="0" u="none" strike="noStrike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기능</a:t>
            </a:r>
            <a:r>
              <a:rPr lang="en-US" sz="3300" b="0" i="0" u="none" strike="noStrike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3300" b="0" i="0" u="none" strike="noStrike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식품</a:t>
            </a:r>
            <a:r>
              <a:rPr lang="en-US" sz="3300" b="0" i="0" u="none" strike="noStrike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+ </a:t>
            </a:r>
            <a:r>
              <a:rPr lang="ko-KR" sz="3300" b="0" i="0" u="none" strike="noStrike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먹다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026400" y="5194852"/>
            <a:ext cx="7340600" cy="8890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99600"/>
              </a:lnSpc>
              <a:defRPr/>
            </a:pPr>
            <a:r>
              <a:rPr lang="en-US" altLang="ko-KR" sz="4300" b="0" i="0" u="none" strike="noStrike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(</a:t>
            </a:r>
            <a:r>
              <a:rPr lang="en-US" sz="4300" b="0" i="0" u="none" strike="noStrike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Supplement + It </a:t>
            </a:r>
            <a:r>
              <a:rPr lang="en-US" altLang="ko-KR" sz="4300" b="0" i="0" u="none" strike="noStrike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)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128000" y="8820424"/>
            <a:ext cx="9017000" cy="1092199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99600"/>
              </a:lnSpc>
              <a:defRPr/>
            </a:pPr>
            <a:r>
              <a:rPr lang="ko-KR" sz="3500" b="0" i="0" u="none" strike="noStrike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동음이의어</a:t>
            </a:r>
            <a:r>
              <a:rPr lang="ko-KR" altLang="en-US" sz="35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를 이용해 </a:t>
            </a:r>
            <a:r>
              <a:rPr lang="ko-KR" sz="3500" b="0" i="0" u="none" strike="noStrike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쉽게</a:t>
            </a:r>
            <a:r>
              <a:rPr lang="en-US" sz="3500" b="0" i="0" u="none" strike="noStrike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3500" b="0" i="0" u="none" strike="noStrike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기억에</a:t>
            </a:r>
            <a:r>
              <a:rPr lang="en-US" sz="3500" b="0" i="0" u="none" strike="noStrike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altLang="en-US" sz="3500" b="0" i="0" u="none" strike="noStrike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남는 이름</a:t>
            </a:r>
            <a:endParaRPr lang="ko-KR" sz="3500" b="0" i="0" u="none" strike="noStrike" dirty="0">
              <a:solidFill>
                <a:srgbClr val="000000"/>
              </a:solidFill>
              <a:latin typeface="전기안전체 Bold" pitchFamily="50" charset="-127"/>
              <a:ea typeface="전기안전체 Bold" pitchFamily="50" charset="-127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8121650" y="7391400"/>
            <a:ext cx="7785100" cy="10922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99600"/>
              </a:lnSpc>
              <a:defRPr/>
            </a:pPr>
            <a:r>
              <a:rPr lang="ko-KR" sz="3300" b="0" i="0" u="none" strike="noStrike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원하던</a:t>
            </a:r>
            <a:r>
              <a:rPr lang="en-US" sz="3300" b="0" i="0" u="none" strike="noStrike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3300" b="0" i="0" u="none" strike="noStrike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건강</a:t>
            </a:r>
            <a:r>
              <a:rPr lang="en-US" sz="3300" b="0" i="0" u="none" strike="noStrike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3300" b="0" i="0" u="none" strike="noStrike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기능</a:t>
            </a:r>
            <a:r>
              <a:rPr lang="en-US" sz="3300" b="0" i="0" u="none" strike="noStrike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3300" b="0" i="0" u="none" strike="noStrike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식품을</a:t>
            </a:r>
            <a:r>
              <a:rPr lang="en-US" sz="3300" b="0" i="0" u="none" strike="noStrike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3300" b="0" i="0" u="none" strike="noStrike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찾다</a:t>
            </a:r>
            <a:r>
              <a:rPr lang="en-US" sz="3300" b="0" i="0" u="none" strike="noStrike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 </a:t>
            </a:r>
          </a:p>
          <a:p>
            <a:pPr lvl="0" algn="l">
              <a:lnSpc>
                <a:spcPct val="99600"/>
              </a:lnSpc>
              <a:defRPr/>
            </a:pPr>
            <a:r>
              <a:rPr lang="ko-KR" sz="3300" b="0" i="0" u="none" strike="noStrike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건강</a:t>
            </a:r>
            <a:r>
              <a:rPr lang="en-US" sz="3300" b="0" i="0" u="none" strike="noStrike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3300" b="0" i="0" u="none" strike="noStrike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기능</a:t>
            </a:r>
            <a:r>
              <a:rPr lang="en-US" sz="3300" b="0" i="0" u="none" strike="noStrike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3300" b="0" i="0" u="none" strike="noStrike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식품을</a:t>
            </a:r>
            <a:r>
              <a:rPr lang="en-US" sz="3300" b="0" i="0" u="none" strike="noStrike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3300" b="0" i="0" u="none" strike="noStrike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먹다</a:t>
            </a:r>
            <a:r>
              <a:rPr lang="en-US" sz="3300" b="0" i="0" u="none" strike="noStrike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 </a:t>
            </a:r>
          </a:p>
        </p:txBody>
      </p:sp>
      <p:sp>
        <p:nvSpPr>
          <p:cNvPr id="12" name="TextBox 9"/>
          <p:cNvSpPr txBox="1"/>
          <p:nvPr/>
        </p:nvSpPr>
        <p:spPr>
          <a:xfrm>
            <a:off x="8077200" y="4013200"/>
            <a:ext cx="7340600" cy="8890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99600"/>
              </a:lnSpc>
              <a:defRPr/>
            </a:pPr>
            <a:r>
              <a:rPr lang="en-US" altLang="ko-KR" sz="5600" b="0" i="0" u="none" strike="noStrike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Supple It</a:t>
            </a:r>
          </a:p>
        </p:txBody>
      </p:sp>
      <p:pic>
        <p:nvPicPr>
          <p:cNvPr id="13" name="Picture 4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10800000">
            <a:off x="-114300" y="3009900"/>
            <a:ext cx="15887700" cy="495300"/>
          </a:xfrm>
          <a:prstGeom prst="rect">
            <a:avLst/>
          </a:prstGeom>
        </p:spPr>
      </p:pic>
      <p:pic>
        <p:nvPicPr>
          <p:cNvPr id="14" name="Picture 5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 rot="7680000">
            <a:off x="14848650" y="1293905"/>
            <a:ext cx="4445000" cy="4953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>
            <a:alphaModFix amt="80000"/>
          </a:blip>
          <a:stretch>
            <a:fillRect/>
          </a:stretch>
        </p:blipFill>
        <p:spPr>
          <a:xfrm>
            <a:off x="6172200" y="2387600"/>
            <a:ext cx="5892800" cy="58928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055723" y="1501944"/>
            <a:ext cx="7607300" cy="3599883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1629035" y="2771491"/>
            <a:ext cx="7442200" cy="26162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99600"/>
              </a:lnSpc>
              <a:defRPr/>
            </a:pPr>
            <a:r>
              <a:rPr lang="en-US" sz="2600" b="0" i="0" u="none" strike="noStrike" dirty="0">
                <a:solidFill>
                  <a:srgbClr val="171653"/>
                </a:solidFill>
                <a:latin typeface="전기안전체 Bold" pitchFamily="50" charset="-127"/>
                <a:ea typeface="전기안전체 Bold" pitchFamily="50" charset="-127"/>
              </a:rPr>
              <a:t>1. </a:t>
            </a:r>
            <a:r>
              <a:rPr lang="ko-KR" sz="2600" b="0" i="0" u="none" strike="noStrike" dirty="0">
                <a:solidFill>
                  <a:srgbClr val="171653"/>
                </a:solidFill>
                <a:latin typeface="전기안전체 Bold" pitchFamily="50" charset="-127"/>
                <a:ea typeface="전기안전체 Bold" pitchFamily="50" charset="-127"/>
              </a:rPr>
              <a:t>키워드</a:t>
            </a:r>
            <a:r>
              <a:rPr lang="en-US" sz="2600" b="0" i="0" u="none" strike="noStrike" dirty="0">
                <a:solidFill>
                  <a:srgbClr val="171653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600" b="0" i="0" u="none" strike="noStrike" dirty="0">
                <a:solidFill>
                  <a:srgbClr val="171653"/>
                </a:solidFill>
                <a:latin typeface="전기안전체 Bold" pitchFamily="50" charset="-127"/>
                <a:ea typeface="전기안전체 Bold" pitchFamily="50" charset="-127"/>
              </a:rPr>
              <a:t>및</a:t>
            </a:r>
            <a:r>
              <a:rPr lang="en-US" sz="2600" b="0" i="0" u="none" strike="noStrike" dirty="0">
                <a:solidFill>
                  <a:srgbClr val="171653"/>
                </a:solidFill>
                <a:latin typeface="전기안전체 Bold" pitchFamily="50" charset="-127"/>
                <a:ea typeface="전기안전체 Bold" pitchFamily="50" charset="-127"/>
              </a:rPr>
              <a:t> TF-IDF </a:t>
            </a:r>
            <a:r>
              <a:rPr lang="ko-KR" sz="2600" b="0" i="0" u="none" strike="noStrike" dirty="0">
                <a:solidFill>
                  <a:srgbClr val="171653"/>
                </a:solidFill>
                <a:latin typeface="전기안전체 Bold" pitchFamily="50" charset="-127"/>
                <a:ea typeface="전기안전체 Bold" pitchFamily="50" charset="-127"/>
              </a:rPr>
              <a:t>기반</a:t>
            </a:r>
            <a:r>
              <a:rPr lang="en-US" sz="2600" b="0" i="0" u="none" strike="noStrike" dirty="0">
                <a:solidFill>
                  <a:srgbClr val="171653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600" b="0" i="0" u="none" strike="noStrike" dirty="0">
                <a:solidFill>
                  <a:srgbClr val="171653"/>
                </a:solidFill>
                <a:latin typeface="전기안전체 Bold" pitchFamily="50" charset="-127"/>
                <a:ea typeface="전기안전체 Bold" pitchFamily="50" charset="-127"/>
              </a:rPr>
              <a:t>정교한</a:t>
            </a:r>
            <a:r>
              <a:rPr lang="en-US" sz="2600" b="0" i="0" u="none" strike="noStrike" dirty="0">
                <a:solidFill>
                  <a:srgbClr val="171653"/>
                </a:solidFill>
                <a:latin typeface="전기안전체 Bold" pitchFamily="50" charset="-127"/>
                <a:ea typeface="전기안전체 Bold" pitchFamily="50" charset="-127"/>
              </a:rPr>
              <a:t> </a:t>
            </a:r>
          </a:p>
          <a:p>
            <a:pPr lvl="0" algn="l">
              <a:lnSpc>
                <a:spcPct val="99600"/>
              </a:lnSpc>
              <a:defRPr/>
            </a:pPr>
            <a:r>
              <a:rPr lang="en-US" sz="2600" b="0" i="0" u="none" strike="noStrike" dirty="0">
                <a:solidFill>
                  <a:srgbClr val="171653"/>
                </a:solidFill>
                <a:latin typeface="전기안전체 Bold" pitchFamily="50" charset="-127"/>
                <a:ea typeface="전기안전체 Bold" pitchFamily="50" charset="-127"/>
              </a:rPr>
              <a:t>    </a:t>
            </a:r>
            <a:r>
              <a:rPr lang="ko-KR" sz="2600" b="0" i="0" u="none" strike="noStrike" dirty="0">
                <a:solidFill>
                  <a:srgbClr val="171653"/>
                </a:solidFill>
                <a:latin typeface="전기안전체 Bold" pitchFamily="50" charset="-127"/>
                <a:ea typeface="전기안전체 Bold" pitchFamily="50" charset="-127"/>
              </a:rPr>
              <a:t>건강기능식품</a:t>
            </a:r>
            <a:r>
              <a:rPr lang="en-US" sz="2600" b="0" i="0" u="none" strike="noStrike" dirty="0">
                <a:solidFill>
                  <a:srgbClr val="171653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600" b="0" i="0" u="none" strike="noStrike" dirty="0">
                <a:solidFill>
                  <a:srgbClr val="171653"/>
                </a:solidFill>
                <a:latin typeface="전기안전체 Bold" pitchFamily="50" charset="-127"/>
                <a:ea typeface="전기안전체 Bold" pitchFamily="50" charset="-127"/>
              </a:rPr>
              <a:t>추천</a:t>
            </a:r>
            <a:r>
              <a:rPr lang="en-US" sz="2600" b="0" i="0" u="none" strike="noStrike" dirty="0">
                <a:solidFill>
                  <a:srgbClr val="171653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600" b="0" i="0" u="none" strike="noStrike" dirty="0">
                <a:solidFill>
                  <a:srgbClr val="171653"/>
                </a:solidFill>
                <a:latin typeface="전기안전체 Bold" pitchFamily="50" charset="-127"/>
                <a:ea typeface="전기안전체 Bold" pitchFamily="50" charset="-127"/>
              </a:rPr>
              <a:t>시스템</a:t>
            </a:r>
          </a:p>
          <a:p>
            <a:pPr lvl="0" algn="l">
              <a:lnSpc>
                <a:spcPct val="99600"/>
              </a:lnSpc>
              <a:defRPr/>
            </a:pPr>
            <a:r>
              <a:rPr lang="en-US" sz="2600" b="0" i="0" u="none" strike="noStrike" dirty="0">
                <a:solidFill>
                  <a:srgbClr val="171653"/>
                </a:solidFill>
                <a:latin typeface="전기안전체 Bold" pitchFamily="50" charset="-127"/>
                <a:ea typeface="전기안전체 Bold" pitchFamily="50" charset="-127"/>
              </a:rPr>
              <a:t>2. </a:t>
            </a:r>
            <a:r>
              <a:rPr lang="ko-KR" sz="2600" b="0" i="0" u="none" strike="noStrike" dirty="0">
                <a:solidFill>
                  <a:srgbClr val="171653"/>
                </a:solidFill>
                <a:latin typeface="전기안전체 Bold" pitchFamily="50" charset="-127"/>
                <a:ea typeface="전기안전체 Bold" pitchFamily="50" charset="-127"/>
              </a:rPr>
              <a:t>불용어</a:t>
            </a:r>
            <a:r>
              <a:rPr lang="en-US" sz="2600" b="0" i="0" u="none" strike="noStrike" dirty="0">
                <a:solidFill>
                  <a:srgbClr val="171653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600" b="0" i="0" u="none" strike="noStrike" dirty="0">
                <a:solidFill>
                  <a:srgbClr val="171653"/>
                </a:solidFill>
                <a:latin typeface="전기안전체 Bold" pitchFamily="50" charset="-127"/>
                <a:ea typeface="전기안전체 Bold" pitchFamily="50" charset="-127"/>
              </a:rPr>
              <a:t>제거</a:t>
            </a:r>
            <a:r>
              <a:rPr lang="en-US" sz="2600" b="0" i="0" u="none" strike="noStrike" dirty="0">
                <a:solidFill>
                  <a:srgbClr val="171653"/>
                </a:solidFill>
                <a:latin typeface="전기안전체 Bold" pitchFamily="50" charset="-127"/>
                <a:ea typeface="전기안전체 Bold" pitchFamily="50" charset="-127"/>
              </a:rPr>
              <a:t>, </a:t>
            </a:r>
            <a:r>
              <a:rPr lang="ko-KR" sz="2600" b="0" i="0" u="none" strike="noStrike" dirty="0">
                <a:solidFill>
                  <a:srgbClr val="171653"/>
                </a:solidFill>
                <a:latin typeface="전기안전체 Bold" pitchFamily="50" charset="-127"/>
                <a:ea typeface="전기안전체 Bold" pitchFamily="50" charset="-127"/>
              </a:rPr>
              <a:t>명사</a:t>
            </a:r>
            <a:r>
              <a:rPr lang="en-US" sz="2600" b="0" i="0" u="none" strike="noStrike" dirty="0">
                <a:solidFill>
                  <a:srgbClr val="171653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600" b="0" i="0" u="none" strike="noStrike" dirty="0">
                <a:solidFill>
                  <a:srgbClr val="171653"/>
                </a:solidFill>
                <a:latin typeface="전기안전체 Bold" pitchFamily="50" charset="-127"/>
                <a:ea typeface="전기안전체 Bold" pitchFamily="50" charset="-127"/>
              </a:rPr>
              <a:t>추출</a:t>
            </a:r>
            <a:r>
              <a:rPr lang="en-US" sz="2600" b="0" i="0" u="none" strike="noStrike" dirty="0">
                <a:solidFill>
                  <a:srgbClr val="171653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600" b="0" i="0" u="none" strike="noStrike" dirty="0">
                <a:solidFill>
                  <a:srgbClr val="171653"/>
                </a:solidFill>
                <a:latin typeface="전기안전체 Bold" pitchFamily="50" charset="-127"/>
                <a:ea typeface="전기안전체 Bold" pitchFamily="50" charset="-127"/>
              </a:rPr>
              <a:t>등</a:t>
            </a:r>
            <a:r>
              <a:rPr lang="en-US" sz="2600" b="0" i="0" u="none" strike="noStrike" dirty="0">
                <a:solidFill>
                  <a:srgbClr val="171653"/>
                </a:solidFill>
                <a:latin typeface="전기안전체 Bold" pitchFamily="50" charset="-127"/>
                <a:ea typeface="전기안전체 Bold" pitchFamily="50" charset="-127"/>
              </a:rPr>
              <a:t> </a:t>
            </a:r>
          </a:p>
          <a:p>
            <a:pPr lvl="0" algn="l">
              <a:lnSpc>
                <a:spcPct val="99600"/>
              </a:lnSpc>
              <a:defRPr/>
            </a:pPr>
            <a:r>
              <a:rPr lang="en-US" sz="2600" b="0" i="0" u="none" strike="noStrike" dirty="0">
                <a:solidFill>
                  <a:srgbClr val="171653"/>
                </a:solidFill>
                <a:latin typeface="전기안전체 Bold" pitchFamily="50" charset="-127"/>
                <a:ea typeface="전기안전체 Bold" pitchFamily="50" charset="-127"/>
              </a:rPr>
              <a:t>    </a:t>
            </a:r>
            <a:r>
              <a:rPr lang="ko-KR" sz="2600" b="0" i="0" u="none" strike="noStrike" dirty="0">
                <a:solidFill>
                  <a:srgbClr val="171653"/>
                </a:solidFill>
                <a:latin typeface="전기안전체 Bold" pitchFamily="50" charset="-127"/>
                <a:ea typeface="전기안전체 Bold" pitchFamily="50" charset="-127"/>
              </a:rPr>
              <a:t>체계적인</a:t>
            </a:r>
            <a:r>
              <a:rPr lang="en-US" sz="2600" b="0" i="0" u="none" strike="noStrike" dirty="0">
                <a:solidFill>
                  <a:srgbClr val="171653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600" b="0" i="0" u="none" strike="noStrike" dirty="0">
                <a:solidFill>
                  <a:srgbClr val="171653"/>
                </a:solidFill>
                <a:latin typeface="전기안전체 Bold" pitchFamily="50" charset="-127"/>
                <a:ea typeface="전기안전체 Bold" pitchFamily="50" charset="-127"/>
              </a:rPr>
              <a:t>데이터</a:t>
            </a:r>
            <a:r>
              <a:rPr lang="en-US" sz="2600" b="0" i="0" u="none" strike="noStrike" dirty="0">
                <a:solidFill>
                  <a:srgbClr val="171653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600" b="0" i="0" u="none" strike="noStrike" dirty="0">
                <a:solidFill>
                  <a:srgbClr val="171653"/>
                </a:solidFill>
                <a:latin typeface="전기안전체 Bold" pitchFamily="50" charset="-127"/>
                <a:ea typeface="전기안전체 Bold" pitchFamily="50" charset="-127"/>
              </a:rPr>
              <a:t>처리</a:t>
            </a:r>
          </a:p>
          <a:p>
            <a:pPr lvl="0" algn="l">
              <a:lnSpc>
                <a:spcPct val="99600"/>
              </a:lnSpc>
              <a:defRPr/>
            </a:pPr>
            <a:r>
              <a:rPr lang="en-US" sz="2600" b="0" i="0" u="none" strike="noStrike" dirty="0">
                <a:solidFill>
                  <a:srgbClr val="171653"/>
                </a:solidFill>
                <a:latin typeface="전기안전체 Bold" pitchFamily="50" charset="-127"/>
                <a:ea typeface="전기안전체 Bold" pitchFamily="50" charset="-127"/>
              </a:rPr>
              <a:t>3. React, Spring Boot </a:t>
            </a:r>
            <a:r>
              <a:rPr lang="ko-KR" sz="2600" b="0" i="0" u="none" strike="noStrike" dirty="0">
                <a:solidFill>
                  <a:srgbClr val="171653"/>
                </a:solidFill>
                <a:latin typeface="전기안전체 Bold" pitchFamily="50" charset="-127"/>
                <a:ea typeface="전기안전체 Bold" pitchFamily="50" charset="-127"/>
              </a:rPr>
              <a:t>등</a:t>
            </a:r>
            <a:r>
              <a:rPr lang="en-US" sz="2600" b="0" i="0" u="none" strike="noStrike" dirty="0">
                <a:solidFill>
                  <a:srgbClr val="171653"/>
                </a:solidFill>
                <a:latin typeface="전기안전체 Bold" pitchFamily="50" charset="-127"/>
                <a:ea typeface="전기안전체 Bold" pitchFamily="50" charset="-127"/>
              </a:rPr>
              <a:t> </a:t>
            </a:r>
          </a:p>
          <a:p>
            <a:pPr lvl="0" algn="l">
              <a:lnSpc>
                <a:spcPct val="99600"/>
              </a:lnSpc>
              <a:defRPr/>
            </a:pPr>
            <a:r>
              <a:rPr lang="en-US" sz="2600" b="0" i="0" u="none" strike="noStrike" dirty="0">
                <a:solidFill>
                  <a:srgbClr val="171653"/>
                </a:solidFill>
                <a:latin typeface="전기안전체 Bold" pitchFamily="50" charset="-127"/>
                <a:ea typeface="전기안전체 Bold" pitchFamily="50" charset="-127"/>
              </a:rPr>
              <a:t>    </a:t>
            </a:r>
            <a:r>
              <a:rPr lang="ko-KR" sz="2600" b="0" i="0" u="none" strike="noStrike" dirty="0">
                <a:solidFill>
                  <a:srgbClr val="171653"/>
                </a:solidFill>
                <a:latin typeface="전기안전체 Bold" pitchFamily="50" charset="-127"/>
                <a:ea typeface="전기안전체 Bold" pitchFamily="50" charset="-127"/>
              </a:rPr>
              <a:t>다양한</a:t>
            </a:r>
            <a:r>
              <a:rPr lang="en-US" sz="2600" b="0" i="0" u="none" strike="noStrike" dirty="0">
                <a:solidFill>
                  <a:srgbClr val="171653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600" b="0" i="0" u="none" strike="noStrike" dirty="0">
                <a:solidFill>
                  <a:srgbClr val="171653"/>
                </a:solidFill>
                <a:latin typeface="전기안전체 Bold" pitchFamily="50" charset="-127"/>
                <a:ea typeface="전기안전체 Bold" pitchFamily="50" charset="-127"/>
              </a:rPr>
              <a:t>기술</a:t>
            </a:r>
            <a:r>
              <a:rPr lang="en-US" sz="2600" b="0" i="0" u="none" strike="noStrike" dirty="0">
                <a:solidFill>
                  <a:srgbClr val="171653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600" b="0" i="0" u="none" strike="noStrike" dirty="0">
                <a:solidFill>
                  <a:srgbClr val="171653"/>
                </a:solidFill>
                <a:latin typeface="전기안전체 Bold" pitchFamily="50" charset="-127"/>
                <a:ea typeface="전기안전체 Bold" pitchFamily="50" charset="-127"/>
              </a:rPr>
              <a:t>스택</a:t>
            </a:r>
            <a:r>
              <a:rPr lang="en-US" sz="2600" b="0" i="0" u="none" strike="noStrike" dirty="0">
                <a:solidFill>
                  <a:srgbClr val="171653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600" b="0" i="0" u="none" strike="noStrike" dirty="0">
                <a:solidFill>
                  <a:srgbClr val="171653"/>
                </a:solidFill>
                <a:latin typeface="전기안전체 Bold" pitchFamily="50" charset="-127"/>
                <a:ea typeface="전기안전체 Bold" pitchFamily="50" charset="-127"/>
              </a:rPr>
              <a:t>활용</a:t>
            </a:r>
          </a:p>
          <a:p>
            <a:pPr lvl="0" algn="l">
              <a:lnSpc>
                <a:spcPct val="99600"/>
              </a:lnSpc>
              <a:defRPr/>
            </a:pPr>
            <a:endParaRPr lang="en-US" sz="2600" b="0" i="0" u="none" strike="noStrike" dirty="0">
              <a:solidFill>
                <a:srgbClr val="000000"/>
              </a:solidFill>
              <a:latin typeface="전기안전체 Bold" pitchFamily="50" charset="-127"/>
              <a:ea typeface="전기안전체 Bold" pitchFamily="50" charset="-127"/>
            </a:endParaRPr>
          </a:p>
          <a:p>
            <a:pPr lvl="0" algn="l">
              <a:lnSpc>
                <a:spcPct val="99600"/>
              </a:lnSpc>
              <a:defRPr/>
            </a:pPr>
            <a:endParaRPr lang="en-US" sz="2600" b="0" i="0" u="none" strike="noStrike" dirty="0">
              <a:solidFill>
                <a:srgbClr val="000000"/>
              </a:solidFill>
              <a:latin typeface="전기안전체 Bold" pitchFamily="50" charset="-127"/>
              <a:ea typeface="전기안전체 Bold" pitchFamily="50" charset="-127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2711450" y="1797618"/>
            <a:ext cx="2400300" cy="5334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defRPr/>
            </a:pPr>
            <a:r>
              <a:rPr lang="en-US" sz="3000" b="0" i="0" u="none" strike="noStrike" dirty="0">
                <a:solidFill>
                  <a:srgbClr val="00BDDB"/>
                </a:solidFill>
                <a:latin typeface="전기안전체 Bold" pitchFamily="50" charset="-127"/>
                <a:ea typeface="전기안전체 Bold" pitchFamily="50" charset="-127"/>
              </a:rPr>
              <a:t>STRENGHTS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690723" y="1651000"/>
            <a:ext cx="546100" cy="6858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078914" y="5499099"/>
            <a:ext cx="7658686" cy="3599883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1663700" y="6229626"/>
            <a:ext cx="4572000" cy="22225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99600"/>
              </a:lnSpc>
              <a:defRPr/>
            </a:pPr>
            <a:r>
              <a:rPr lang="en-US" sz="2600" b="0" i="0" u="none" strike="noStrike" dirty="0">
                <a:solidFill>
                  <a:srgbClr val="171653"/>
                </a:solidFill>
                <a:latin typeface="전기안전체 Bold" pitchFamily="50" charset="-127"/>
                <a:ea typeface="전기안전체 Bold" pitchFamily="50" charset="-127"/>
              </a:rPr>
              <a:t>1. </a:t>
            </a:r>
            <a:r>
              <a:rPr lang="ko-KR" sz="2600" b="0" i="0" u="none" strike="noStrike" dirty="0">
                <a:solidFill>
                  <a:srgbClr val="171653"/>
                </a:solidFill>
                <a:latin typeface="전기안전체 Bold" pitchFamily="50" charset="-127"/>
                <a:ea typeface="전기안전체 Bold" pitchFamily="50" charset="-127"/>
              </a:rPr>
              <a:t>개인</a:t>
            </a:r>
            <a:r>
              <a:rPr lang="en-US" sz="2600" b="0" i="0" u="none" strike="noStrike" dirty="0">
                <a:solidFill>
                  <a:srgbClr val="171653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600" b="0" i="0" u="none" strike="noStrike" dirty="0">
                <a:solidFill>
                  <a:srgbClr val="171653"/>
                </a:solidFill>
                <a:latin typeface="전기안전체 Bold" pitchFamily="50" charset="-127"/>
                <a:ea typeface="전기안전체 Bold" pitchFamily="50" charset="-127"/>
              </a:rPr>
              <a:t>맞춤형</a:t>
            </a:r>
            <a:r>
              <a:rPr lang="en-US" sz="2600" b="0" i="0" u="none" strike="noStrike" dirty="0">
                <a:solidFill>
                  <a:srgbClr val="171653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600" b="0" i="0" u="none" strike="noStrike" dirty="0">
                <a:solidFill>
                  <a:srgbClr val="171653"/>
                </a:solidFill>
                <a:latin typeface="전기안전체 Bold" pitchFamily="50" charset="-127"/>
                <a:ea typeface="전기안전체 Bold" pitchFamily="50" charset="-127"/>
              </a:rPr>
              <a:t>건강관리에</a:t>
            </a:r>
            <a:r>
              <a:rPr lang="en-US" sz="2600" b="0" i="0" u="none" strike="noStrike" dirty="0">
                <a:solidFill>
                  <a:srgbClr val="171653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600" b="0" i="0" u="none" strike="noStrike" dirty="0">
                <a:solidFill>
                  <a:srgbClr val="171653"/>
                </a:solidFill>
                <a:latin typeface="전기안전체 Bold" pitchFamily="50" charset="-127"/>
                <a:ea typeface="전기안전체 Bold" pitchFamily="50" charset="-127"/>
              </a:rPr>
              <a:t>대한</a:t>
            </a:r>
            <a:r>
              <a:rPr lang="en-US" sz="2600" b="0" i="0" u="none" strike="noStrike" dirty="0">
                <a:solidFill>
                  <a:srgbClr val="171653"/>
                </a:solidFill>
                <a:latin typeface="전기안전체 Bold" pitchFamily="50" charset="-127"/>
                <a:ea typeface="전기안전체 Bold" pitchFamily="50" charset="-127"/>
              </a:rPr>
              <a:t> </a:t>
            </a:r>
          </a:p>
          <a:p>
            <a:pPr lvl="0" algn="l">
              <a:lnSpc>
                <a:spcPct val="99600"/>
              </a:lnSpc>
              <a:defRPr/>
            </a:pPr>
            <a:r>
              <a:rPr lang="en-US" sz="2600" b="0" i="0" u="none" strike="noStrike" dirty="0">
                <a:solidFill>
                  <a:srgbClr val="171653"/>
                </a:solidFill>
                <a:latin typeface="전기안전체 Bold" pitchFamily="50" charset="-127"/>
                <a:ea typeface="전기안전체 Bold" pitchFamily="50" charset="-127"/>
              </a:rPr>
              <a:t>    </a:t>
            </a:r>
            <a:r>
              <a:rPr lang="ko-KR" altLang="en-US" sz="2600" b="0" i="0" u="none" strike="noStrike" dirty="0">
                <a:solidFill>
                  <a:srgbClr val="171653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600" b="0" i="0" u="none" strike="noStrike" dirty="0">
                <a:solidFill>
                  <a:srgbClr val="171653"/>
                </a:solidFill>
                <a:latin typeface="전기안전체 Bold" pitchFamily="50" charset="-127"/>
                <a:ea typeface="전기안전체 Bold" pitchFamily="50" charset="-127"/>
              </a:rPr>
              <a:t>사회적</a:t>
            </a:r>
            <a:r>
              <a:rPr lang="en-US" sz="2600" b="0" i="0" u="none" strike="noStrike" dirty="0">
                <a:solidFill>
                  <a:srgbClr val="171653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600" b="0" i="0" u="none" strike="noStrike" dirty="0">
                <a:solidFill>
                  <a:srgbClr val="171653"/>
                </a:solidFill>
                <a:latin typeface="전기안전체 Bold" pitchFamily="50" charset="-127"/>
                <a:ea typeface="전기안전체 Bold" pitchFamily="50" charset="-127"/>
              </a:rPr>
              <a:t>관심</a:t>
            </a:r>
            <a:r>
              <a:rPr lang="en-US" sz="2600" b="0" i="0" u="none" strike="noStrike" dirty="0">
                <a:solidFill>
                  <a:srgbClr val="171653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600" b="0" i="0" u="none" strike="noStrike" dirty="0">
                <a:solidFill>
                  <a:srgbClr val="171653"/>
                </a:solidFill>
                <a:latin typeface="전기안전체 Bold" pitchFamily="50" charset="-127"/>
                <a:ea typeface="전기안전체 Bold" pitchFamily="50" charset="-127"/>
              </a:rPr>
              <a:t>증가</a:t>
            </a:r>
          </a:p>
          <a:p>
            <a:pPr lvl="0" algn="l">
              <a:lnSpc>
                <a:spcPct val="99600"/>
              </a:lnSpc>
              <a:defRPr/>
            </a:pPr>
            <a:r>
              <a:rPr lang="en-US" sz="2600" b="0" i="0" u="none" strike="noStrike" dirty="0">
                <a:solidFill>
                  <a:srgbClr val="171653"/>
                </a:solidFill>
                <a:latin typeface="전기안전체 Bold" pitchFamily="50" charset="-127"/>
                <a:ea typeface="전기안전체 Bold" pitchFamily="50" charset="-127"/>
              </a:rPr>
              <a:t>2. </a:t>
            </a:r>
            <a:r>
              <a:rPr lang="ko-KR" sz="2600" b="0" i="0" u="none" strike="noStrike" dirty="0">
                <a:solidFill>
                  <a:srgbClr val="171653"/>
                </a:solidFill>
                <a:latin typeface="전기안전체 Bold" pitchFamily="50" charset="-127"/>
                <a:ea typeface="전기안전체 Bold" pitchFamily="50" charset="-127"/>
              </a:rPr>
              <a:t>사용자</a:t>
            </a:r>
            <a:r>
              <a:rPr lang="en-US" sz="2600" b="0" i="0" u="none" strike="noStrike" dirty="0">
                <a:solidFill>
                  <a:srgbClr val="171653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600" b="0" i="0" u="none" strike="noStrike" dirty="0">
                <a:solidFill>
                  <a:srgbClr val="171653"/>
                </a:solidFill>
                <a:latin typeface="전기안전체 Bold" pitchFamily="50" charset="-127"/>
                <a:ea typeface="전기안전체 Bold" pitchFamily="50" charset="-127"/>
              </a:rPr>
              <a:t>검색</a:t>
            </a:r>
            <a:r>
              <a:rPr lang="en-US" sz="2600" b="0" i="0" u="none" strike="noStrike" dirty="0">
                <a:solidFill>
                  <a:srgbClr val="171653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600" b="0" i="0" u="none" strike="noStrike" dirty="0">
                <a:solidFill>
                  <a:srgbClr val="171653"/>
                </a:solidFill>
                <a:latin typeface="전기안전체 Bold" pitchFamily="50" charset="-127"/>
                <a:ea typeface="전기안전체 Bold" pitchFamily="50" charset="-127"/>
              </a:rPr>
              <a:t>데이터를</a:t>
            </a:r>
            <a:r>
              <a:rPr lang="en-US" sz="2600" b="0" i="0" u="none" strike="noStrike" dirty="0">
                <a:solidFill>
                  <a:srgbClr val="171653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600" b="0" i="0" u="none" strike="noStrike" dirty="0">
                <a:solidFill>
                  <a:srgbClr val="171653"/>
                </a:solidFill>
                <a:latin typeface="전기안전체 Bold" pitchFamily="50" charset="-127"/>
                <a:ea typeface="전기안전체 Bold" pitchFamily="50" charset="-127"/>
              </a:rPr>
              <a:t>활용한</a:t>
            </a:r>
          </a:p>
          <a:p>
            <a:pPr lvl="0" algn="l">
              <a:lnSpc>
                <a:spcPct val="99600"/>
              </a:lnSpc>
              <a:defRPr/>
            </a:pPr>
            <a:r>
              <a:rPr lang="en-US" sz="2600" b="0" i="0" u="none" strike="noStrike" dirty="0">
                <a:solidFill>
                  <a:srgbClr val="171653"/>
                </a:solidFill>
                <a:latin typeface="전기안전체 Bold" pitchFamily="50" charset="-127"/>
                <a:ea typeface="전기안전체 Bold" pitchFamily="50" charset="-127"/>
              </a:rPr>
              <a:t>    </a:t>
            </a:r>
            <a:r>
              <a:rPr lang="ko-KR" sz="2600" b="0" i="0" u="none" strike="noStrike" dirty="0">
                <a:solidFill>
                  <a:srgbClr val="171653"/>
                </a:solidFill>
                <a:latin typeface="전기안전체 Bold" pitchFamily="50" charset="-127"/>
                <a:ea typeface="전기안전체 Bold" pitchFamily="50" charset="-127"/>
              </a:rPr>
              <a:t>추천</a:t>
            </a:r>
            <a:r>
              <a:rPr lang="en-US" sz="2600" b="0" i="0" u="none" strike="noStrike" dirty="0">
                <a:solidFill>
                  <a:srgbClr val="171653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600" b="0" i="0" u="none" strike="noStrike" dirty="0">
                <a:solidFill>
                  <a:srgbClr val="171653"/>
                </a:solidFill>
                <a:latin typeface="전기안전체 Bold" pitchFamily="50" charset="-127"/>
                <a:ea typeface="전기안전체 Bold" pitchFamily="50" charset="-127"/>
              </a:rPr>
              <a:t>알고리즘</a:t>
            </a:r>
            <a:r>
              <a:rPr lang="en-US" sz="2600" b="0" i="0" u="none" strike="noStrike" dirty="0">
                <a:solidFill>
                  <a:srgbClr val="171653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600" b="0" i="0" u="none" strike="noStrike" dirty="0">
                <a:solidFill>
                  <a:srgbClr val="171653"/>
                </a:solidFill>
                <a:latin typeface="전기안전체 Bold" pitchFamily="50" charset="-127"/>
                <a:ea typeface="전기안전체 Bold" pitchFamily="50" charset="-127"/>
              </a:rPr>
              <a:t>개선</a:t>
            </a:r>
            <a:r>
              <a:rPr lang="en-US" sz="2600" b="0" i="0" u="none" strike="noStrike" dirty="0">
                <a:solidFill>
                  <a:srgbClr val="171653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600" b="0" i="0" u="none" strike="noStrike" dirty="0">
                <a:solidFill>
                  <a:srgbClr val="171653"/>
                </a:solidFill>
                <a:latin typeface="전기안전체 Bold" pitchFamily="50" charset="-127"/>
                <a:ea typeface="전기안전체 Bold" pitchFamily="50" charset="-127"/>
              </a:rPr>
              <a:t>가능성</a:t>
            </a:r>
          </a:p>
          <a:p>
            <a:pPr lvl="0" algn="l">
              <a:lnSpc>
                <a:spcPct val="99600"/>
              </a:lnSpc>
              <a:defRPr/>
            </a:pPr>
            <a:r>
              <a:rPr lang="en-US" sz="2600" b="0" i="0" u="none" strike="noStrike" dirty="0">
                <a:solidFill>
                  <a:srgbClr val="171653"/>
                </a:solidFill>
                <a:latin typeface="전기안전체 Bold" pitchFamily="50" charset="-127"/>
                <a:ea typeface="전기안전체 Bold" pitchFamily="50" charset="-127"/>
              </a:rPr>
              <a:t>3. </a:t>
            </a:r>
            <a:r>
              <a:rPr lang="ko-KR" sz="2600" b="0" i="0" u="none" strike="noStrike" dirty="0">
                <a:solidFill>
                  <a:srgbClr val="171653"/>
                </a:solidFill>
                <a:latin typeface="전기안전체 Bold" pitchFamily="50" charset="-127"/>
                <a:ea typeface="전기안전체 Bold" pitchFamily="50" charset="-127"/>
              </a:rPr>
              <a:t>모바일</a:t>
            </a:r>
            <a:r>
              <a:rPr lang="en-US" sz="2600" b="0" i="0" u="none" strike="noStrike" dirty="0">
                <a:solidFill>
                  <a:srgbClr val="171653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600" b="0" i="0" u="none" strike="noStrike" dirty="0">
                <a:solidFill>
                  <a:srgbClr val="171653"/>
                </a:solidFill>
                <a:latin typeface="전기안전체 Bold" pitchFamily="50" charset="-127"/>
                <a:ea typeface="전기안전체 Bold" pitchFamily="50" charset="-127"/>
              </a:rPr>
              <a:t>헬스케어</a:t>
            </a:r>
            <a:r>
              <a:rPr lang="en-US" sz="2600" b="0" i="0" u="none" strike="noStrike" dirty="0">
                <a:solidFill>
                  <a:srgbClr val="171653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600" b="0" i="0" u="none" strike="noStrike" dirty="0">
                <a:solidFill>
                  <a:srgbClr val="171653"/>
                </a:solidFill>
                <a:latin typeface="전기안전체 Bold" pitchFamily="50" charset="-127"/>
                <a:ea typeface="전기안전체 Bold" pitchFamily="50" charset="-127"/>
              </a:rPr>
              <a:t>시장의</a:t>
            </a:r>
            <a:r>
              <a:rPr lang="en-US" sz="2600" b="0" i="0" u="none" strike="noStrike" dirty="0">
                <a:solidFill>
                  <a:srgbClr val="171653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600" b="0" i="0" u="none" strike="noStrike" dirty="0">
                <a:solidFill>
                  <a:srgbClr val="171653"/>
                </a:solidFill>
                <a:latin typeface="전기안전체 Bold" pitchFamily="50" charset="-127"/>
                <a:ea typeface="전기안전체 Bold" pitchFamily="50" charset="-127"/>
              </a:rPr>
              <a:t>성장</a:t>
            </a:r>
          </a:p>
          <a:p>
            <a:pPr lvl="0" algn="l">
              <a:lnSpc>
                <a:spcPct val="99600"/>
              </a:lnSpc>
              <a:defRPr/>
            </a:pPr>
            <a:endParaRPr lang="en-US" sz="2600" b="0" i="0" u="none" strike="noStrike" dirty="0">
              <a:solidFill>
                <a:srgbClr val="000000"/>
              </a:solidFill>
              <a:latin typeface="전기안전체 Bold" pitchFamily="50" charset="-127"/>
              <a:ea typeface="전기안전체 Bold" pitchFamily="50" charset="-127"/>
            </a:endParaRPr>
          </a:p>
          <a:p>
            <a:pPr lvl="0" algn="l">
              <a:lnSpc>
                <a:spcPct val="99600"/>
              </a:lnSpc>
              <a:defRPr/>
            </a:pPr>
            <a:endParaRPr lang="en-US" sz="2600" b="0" i="0" u="none" strike="noStrike" dirty="0">
              <a:solidFill>
                <a:srgbClr val="000000"/>
              </a:solidFill>
              <a:latin typeface="전기안전체 Bold" pitchFamily="50" charset="-127"/>
              <a:ea typeface="전기안전체 Bold" pitchFamily="50" charset="-127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2852961" y="8153400"/>
            <a:ext cx="3225800" cy="5334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defRPr/>
            </a:pPr>
            <a:r>
              <a:rPr lang="en-US" sz="3000" b="0" i="0" u="none" strike="noStrike" dirty="0">
                <a:solidFill>
                  <a:srgbClr val="7F5DD3"/>
                </a:solidFill>
                <a:latin typeface="전기안전체 Bold" pitchFamily="50" charset="-127"/>
                <a:ea typeface="전기안전체 Bold" pitchFamily="50" charset="-127"/>
              </a:rPr>
              <a:t>OPPORTUNITIES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1625600" y="8166100"/>
            <a:ext cx="952500" cy="5207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9550399" y="5537199"/>
            <a:ext cx="8003207" cy="3650683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12235146" y="5769666"/>
            <a:ext cx="6238812" cy="2260601"/>
          </a:xfrm>
          <a:prstGeom prst="rect">
            <a:avLst/>
          </a:prstGeom>
        </p:spPr>
        <p:txBody>
          <a:bodyPr lIns="0" tIns="0" rIns="0" bIns="0" anchor="ctr"/>
          <a:lstStyle/>
          <a:p>
            <a:pPr marL="457200" lvl="0" indent="-457200" algn="l">
              <a:lnSpc>
                <a:spcPct val="99600"/>
              </a:lnSpc>
              <a:buAutoNum type="arabicPeriod"/>
              <a:defRPr/>
            </a:pPr>
            <a:r>
              <a:rPr lang="ko-KR" sz="2600" b="0" i="0" u="none" strike="noStrike" dirty="0">
                <a:solidFill>
                  <a:srgbClr val="171653"/>
                </a:solidFill>
                <a:latin typeface="전기안전체 Bold" pitchFamily="50" charset="-127"/>
                <a:ea typeface="전기안전체 Bold" pitchFamily="50" charset="-127"/>
              </a:rPr>
              <a:t>유사</a:t>
            </a:r>
            <a:r>
              <a:rPr lang="en-US" sz="2600" b="0" i="0" u="none" strike="noStrike" dirty="0">
                <a:solidFill>
                  <a:srgbClr val="171653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600" b="0" i="0" u="none" strike="noStrike" dirty="0">
                <a:solidFill>
                  <a:srgbClr val="171653"/>
                </a:solidFill>
                <a:latin typeface="전기안전체 Bold" pitchFamily="50" charset="-127"/>
                <a:ea typeface="전기안전체 Bold" pitchFamily="50" charset="-127"/>
              </a:rPr>
              <a:t>추천</a:t>
            </a:r>
            <a:r>
              <a:rPr lang="en-US" sz="2600" b="0" i="0" u="none" strike="noStrike" dirty="0">
                <a:solidFill>
                  <a:srgbClr val="171653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600" b="0" i="0" u="none" strike="noStrike" dirty="0">
                <a:solidFill>
                  <a:srgbClr val="171653"/>
                </a:solidFill>
                <a:latin typeface="전기안전체 Bold" pitchFamily="50" charset="-127"/>
                <a:ea typeface="전기안전체 Bold" pitchFamily="50" charset="-127"/>
              </a:rPr>
              <a:t>서비스</a:t>
            </a:r>
            <a:r>
              <a:rPr lang="en-US" altLang="ko-KR" sz="2600" b="0" i="0" u="none" strike="noStrike" dirty="0">
                <a:solidFill>
                  <a:srgbClr val="171653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altLang="en-US" sz="2600" b="0" i="0" u="none" strike="noStrike" dirty="0">
                <a:solidFill>
                  <a:srgbClr val="171653"/>
                </a:solidFill>
                <a:latin typeface="전기안전체 Bold" pitchFamily="50" charset="-127"/>
                <a:ea typeface="전기안전체 Bold" pitchFamily="50" charset="-127"/>
              </a:rPr>
              <a:t>와</a:t>
            </a:r>
            <a:r>
              <a:rPr lang="ko-KR" sz="2600" b="0" i="0" u="none" strike="noStrike" dirty="0">
                <a:solidFill>
                  <a:srgbClr val="171653"/>
                </a:solidFill>
                <a:latin typeface="전기안전체 Bold" pitchFamily="50" charset="-127"/>
                <a:ea typeface="전기안전체 Bold" pitchFamily="50" charset="-127"/>
              </a:rPr>
              <a:t>의</a:t>
            </a:r>
            <a:r>
              <a:rPr lang="en-US" altLang="ko-KR" sz="2600" b="0" i="0" u="none" strike="noStrike" dirty="0">
                <a:solidFill>
                  <a:srgbClr val="171653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600" b="0" i="0" u="none" strike="noStrike" dirty="0">
                <a:solidFill>
                  <a:srgbClr val="171653"/>
                </a:solidFill>
                <a:latin typeface="전기안전체 Bold" pitchFamily="50" charset="-127"/>
                <a:ea typeface="전기안전체 Bold" pitchFamily="50" charset="-127"/>
              </a:rPr>
              <a:t>경쟁</a:t>
            </a:r>
            <a:r>
              <a:rPr lang="en-US" sz="2600" b="0" i="0" u="none" strike="noStrike" dirty="0">
                <a:solidFill>
                  <a:srgbClr val="171653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600" b="0" i="0" u="none" strike="noStrike" dirty="0">
                <a:solidFill>
                  <a:srgbClr val="171653"/>
                </a:solidFill>
                <a:latin typeface="전기안전체 Bold" pitchFamily="50" charset="-127"/>
                <a:ea typeface="전기안전체 Bold" pitchFamily="50" charset="-127"/>
              </a:rPr>
              <a:t>심화</a:t>
            </a:r>
          </a:p>
          <a:p>
            <a:pPr lvl="0" algn="l">
              <a:lnSpc>
                <a:spcPct val="99600"/>
              </a:lnSpc>
              <a:defRPr/>
            </a:pPr>
            <a:r>
              <a:rPr lang="en-US" sz="2600" b="0" i="0" u="none" strike="noStrike" dirty="0">
                <a:solidFill>
                  <a:srgbClr val="171653"/>
                </a:solidFill>
                <a:latin typeface="전기안전체 Bold" pitchFamily="50" charset="-127"/>
                <a:ea typeface="전기안전체 Bold" pitchFamily="50" charset="-127"/>
              </a:rPr>
              <a:t>2. </a:t>
            </a:r>
            <a:r>
              <a:rPr lang="ko-KR" sz="2600" b="0" i="0" u="none" strike="noStrike" dirty="0">
                <a:solidFill>
                  <a:srgbClr val="171653"/>
                </a:solidFill>
                <a:latin typeface="전기안전체 Bold" pitchFamily="50" charset="-127"/>
                <a:ea typeface="전기안전체 Bold" pitchFamily="50" charset="-127"/>
              </a:rPr>
              <a:t>개인정보</a:t>
            </a:r>
            <a:r>
              <a:rPr lang="en-US" sz="2600" b="0" i="0" u="none" strike="noStrike" dirty="0">
                <a:solidFill>
                  <a:srgbClr val="171653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600" b="0" i="0" u="none" strike="noStrike" dirty="0">
                <a:solidFill>
                  <a:srgbClr val="171653"/>
                </a:solidFill>
                <a:latin typeface="전기안전체 Bold" pitchFamily="50" charset="-127"/>
                <a:ea typeface="전기안전체 Bold" pitchFamily="50" charset="-127"/>
              </a:rPr>
              <a:t>보호</a:t>
            </a:r>
            <a:r>
              <a:rPr lang="en-US" sz="2600" b="0" i="0" u="none" strike="noStrike" dirty="0">
                <a:solidFill>
                  <a:srgbClr val="171653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600" b="0" i="0" u="none" strike="noStrike" dirty="0">
                <a:solidFill>
                  <a:srgbClr val="171653"/>
                </a:solidFill>
                <a:latin typeface="전기안전체 Bold" pitchFamily="50" charset="-127"/>
                <a:ea typeface="전기안전체 Bold" pitchFamily="50" charset="-127"/>
              </a:rPr>
              <a:t>규제의</a:t>
            </a:r>
            <a:r>
              <a:rPr lang="en-US" sz="2600" b="0" i="0" u="none" strike="noStrike" dirty="0">
                <a:solidFill>
                  <a:srgbClr val="171653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600" b="0" i="0" u="none" strike="noStrike" dirty="0">
                <a:solidFill>
                  <a:srgbClr val="171653"/>
                </a:solidFill>
                <a:latin typeface="전기안전체 Bold" pitchFamily="50" charset="-127"/>
                <a:ea typeface="전기안전체 Bold" pitchFamily="50" charset="-127"/>
              </a:rPr>
              <a:t>강화</a:t>
            </a:r>
          </a:p>
          <a:p>
            <a:pPr lvl="0" algn="l">
              <a:lnSpc>
                <a:spcPct val="99600"/>
              </a:lnSpc>
              <a:defRPr/>
            </a:pPr>
            <a:r>
              <a:rPr lang="en-US" sz="2600" b="0" i="0" u="none" strike="noStrike" dirty="0">
                <a:solidFill>
                  <a:srgbClr val="171653"/>
                </a:solidFill>
                <a:latin typeface="전기안전체 Bold" pitchFamily="50" charset="-127"/>
                <a:ea typeface="전기안전체 Bold" pitchFamily="50" charset="-127"/>
              </a:rPr>
              <a:t>3. </a:t>
            </a:r>
            <a:r>
              <a:rPr lang="ko-KR" sz="2600" b="0" i="0" u="none" strike="noStrike" dirty="0">
                <a:solidFill>
                  <a:srgbClr val="171653"/>
                </a:solidFill>
                <a:latin typeface="전기안전체 Bold" pitchFamily="50" charset="-127"/>
                <a:ea typeface="전기안전체 Bold" pitchFamily="50" charset="-127"/>
              </a:rPr>
              <a:t>빠르게</a:t>
            </a:r>
            <a:r>
              <a:rPr lang="en-US" sz="2600" b="0" i="0" u="none" strike="noStrike" dirty="0">
                <a:solidFill>
                  <a:srgbClr val="171653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600" b="0" i="0" u="none" strike="noStrike" dirty="0">
                <a:solidFill>
                  <a:srgbClr val="171653"/>
                </a:solidFill>
                <a:latin typeface="전기안전체 Bold" pitchFamily="50" charset="-127"/>
                <a:ea typeface="전기안전체 Bold" pitchFamily="50" charset="-127"/>
              </a:rPr>
              <a:t>변화하는</a:t>
            </a:r>
            <a:r>
              <a:rPr lang="en-US" sz="2600" b="0" i="0" u="none" strike="noStrike" dirty="0">
                <a:solidFill>
                  <a:srgbClr val="171653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600" b="0" i="0" u="none" strike="noStrike" dirty="0">
                <a:solidFill>
                  <a:srgbClr val="171653"/>
                </a:solidFill>
                <a:latin typeface="전기안전체 Bold" pitchFamily="50" charset="-127"/>
                <a:ea typeface="전기안전체 Bold" pitchFamily="50" charset="-127"/>
              </a:rPr>
              <a:t>건강기능식품</a:t>
            </a:r>
            <a:r>
              <a:rPr lang="en-US" sz="2600" b="0" i="0" u="none" strike="noStrike" dirty="0">
                <a:solidFill>
                  <a:srgbClr val="171653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600" b="0" i="0" u="none" strike="noStrike" dirty="0">
                <a:solidFill>
                  <a:srgbClr val="171653"/>
                </a:solidFill>
                <a:latin typeface="전기안전체 Bold" pitchFamily="50" charset="-127"/>
                <a:ea typeface="전기안전체 Bold" pitchFamily="50" charset="-127"/>
              </a:rPr>
              <a:t>트렌드</a:t>
            </a:r>
            <a:endParaRPr lang="en-US" sz="2600" b="0" i="0" u="none" strike="noStrike" dirty="0">
              <a:solidFill>
                <a:srgbClr val="000000"/>
              </a:solidFill>
              <a:latin typeface="전기안전체 Bold" pitchFamily="50" charset="-127"/>
              <a:ea typeface="전기안전체 Bold" pitchFamily="50" charset="-127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4172724" y="8186528"/>
            <a:ext cx="1841500" cy="5334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r">
              <a:lnSpc>
                <a:spcPct val="116199"/>
              </a:lnSpc>
              <a:defRPr/>
            </a:pPr>
            <a:r>
              <a:rPr lang="en-US" sz="3000" b="0" i="0" u="none" strike="noStrike" dirty="0">
                <a:solidFill>
                  <a:srgbClr val="6464DC"/>
                </a:solidFill>
                <a:latin typeface="전기안전체 Bold" pitchFamily="50" charset="-127"/>
                <a:ea typeface="전기안전체 Bold" pitchFamily="50" charset="-127"/>
              </a:rPr>
              <a:t>THREATS</a:t>
            </a: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16407925" y="8161128"/>
            <a:ext cx="558800" cy="5588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9550400" y="1492817"/>
            <a:ext cx="7939218" cy="3650683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12509024" y="1806811"/>
            <a:ext cx="3505200" cy="5334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r">
              <a:lnSpc>
                <a:spcPct val="116199"/>
              </a:lnSpc>
              <a:defRPr/>
            </a:pPr>
            <a:r>
              <a:rPr lang="en-US" sz="3000" b="0" i="0" u="none" strike="noStrike" dirty="0">
                <a:solidFill>
                  <a:srgbClr val="00C7A1"/>
                </a:solidFill>
                <a:latin typeface="전기안전체 Bold" pitchFamily="50" charset="-127"/>
                <a:ea typeface="전기안전체 Bold" pitchFamily="50" charset="-127"/>
              </a:rPr>
              <a:t>WEAKNESSES</a:t>
            </a: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>
            <a:off x="16292477" y="1761435"/>
            <a:ext cx="609600" cy="558800"/>
          </a:xfrm>
          <a:prstGeom prst="rect">
            <a:avLst/>
          </a:prstGeom>
        </p:spPr>
      </p:pic>
      <p:sp>
        <p:nvSpPr>
          <p:cNvPr id="18" name="TextBox 18"/>
          <p:cNvSpPr txBox="1"/>
          <p:nvPr/>
        </p:nvSpPr>
        <p:spPr>
          <a:xfrm>
            <a:off x="12065000" y="2420308"/>
            <a:ext cx="5765800" cy="2131684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99600"/>
              </a:lnSpc>
              <a:defRPr/>
            </a:pPr>
            <a:r>
              <a:rPr lang="en-US" sz="2600" b="0" i="0" u="none" strike="noStrike" dirty="0">
                <a:solidFill>
                  <a:srgbClr val="171653"/>
                </a:solidFill>
                <a:latin typeface="전기안전체 Bold" pitchFamily="50" charset="-127"/>
                <a:ea typeface="전기안전체 Bold" pitchFamily="50" charset="-127"/>
              </a:rPr>
              <a:t>1. </a:t>
            </a:r>
            <a:r>
              <a:rPr lang="ko-KR" sz="2600" b="0" i="0" u="none" strike="noStrike" dirty="0">
                <a:solidFill>
                  <a:srgbClr val="171653"/>
                </a:solidFill>
                <a:latin typeface="전기안전체 Bold" pitchFamily="50" charset="-127"/>
                <a:ea typeface="전기안전체 Bold" pitchFamily="50" charset="-127"/>
              </a:rPr>
              <a:t>초기</a:t>
            </a:r>
            <a:r>
              <a:rPr lang="en-US" sz="2600" b="0" i="0" u="none" strike="noStrike" dirty="0">
                <a:solidFill>
                  <a:srgbClr val="171653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600" b="0" i="0" u="none" strike="noStrike" dirty="0">
                <a:solidFill>
                  <a:srgbClr val="171653"/>
                </a:solidFill>
                <a:latin typeface="전기안전체 Bold" pitchFamily="50" charset="-127"/>
                <a:ea typeface="전기안전체 Bold" pitchFamily="50" charset="-127"/>
              </a:rPr>
              <a:t>추천</a:t>
            </a:r>
            <a:r>
              <a:rPr lang="en-US" sz="2600" b="0" i="0" u="none" strike="noStrike" dirty="0">
                <a:solidFill>
                  <a:srgbClr val="171653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600" b="0" i="0" u="none" strike="noStrike" dirty="0">
                <a:solidFill>
                  <a:srgbClr val="171653"/>
                </a:solidFill>
                <a:latin typeface="전기안전체 Bold" pitchFamily="50" charset="-127"/>
                <a:ea typeface="전기안전체 Bold" pitchFamily="50" charset="-127"/>
              </a:rPr>
              <a:t>시스템의</a:t>
            </a:r>
            <a:r>
              <a:rPr lang="en-US" sz="2600" b="0" i="0" u="none" strike="noStrike" dirty="0">
                <a:solidFill>
                  <a:srgbClr val="171653"/>
                </a:solidFill>
                <a:latin typeface="전기안전체 Bold" pitchFamily="50" charset="-127"/>
                <a:ea typeface="전기안전체 Bold" pitchFamily="50" charset="-127"/>
              </a:rPr>
              <a:t> </a:t>
            </a:r>
            <a:r>
              <a:rPr lang="ko-KR" sz="2600" b="0" i="0" u="none" strike="noStrike" dirty="0">
                <a:solidFill>
                  <a:srgbClr val="171653"/>
                </a:solidFill>
                <a:latin typeface="전기안전체 Bold" pitchFamily="50" charset="-127"/>
                <a:ea typeface="전기안전체 Bold" pitchFamily="50" charset="-127"/>
              </a:rPr>
              <a:t>낮은</a:t>
            </a:r>
            <a:r>
              <a:rPr lang="en-US" sz="2600" b="0" i="0" u="none" strike="noStrike" dirty="0">
                <a:solidFill>
                  <a:srgbClr val="171653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600" b="0" i="0" u="none" strike="noStrike" dirty="0">
                <a:solidFill>
                  <a:srgbClr val="171653"/>
                </a:solidFill>
                <a:latin typeface="전기안전체 Bold" pitchFamily="50" charset="-127"/>
                <a:ea typeface="전기안전체 Bold" pitchFamily="50" charset="-127"/>
              </a:rPr>
              <a:t>데이터</a:t>
            </a:r>
            <a:r>
              <a:rPr lang="en-US" sz="2600" b="0" i="0" u="none" strike="noStrike" dirty="0">
                <a:solidFill>
                  <a:srgbClr val="171653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600" b="0" i="0" u="none" strike="noStrike" dirty="0">
                <a:solidFill>
                  <a:srgbClr val="171653"/>
                </a:solidFill>
                <a:latin typeface="전기안전체 Bold" pitchFamily="50" charset="-127"/>
                <a:ea typeface="전기안전체 Bold" pitchFamily="50" charset="-127"/>
              </a:rPr>
              <a:t>관련성</a:t>
            </a:r>
          </a:p>
          <a:p>
            <a:pPr lvl="0" algn="l">
              <a:lnSpc>
                <a:spcPct val="99600"/>
              </a:lnSpc>
              <a:defRPr/>
            </a:pPr>
            <a:r>
              <a:rPr lang="en-US" sz="2600" b="0" i="0" u="none" strike="noStrike" dirty="0">
                <a:solidFill>
                  <a:srgbClr val="171653"/>
                </a:solidFill>
                <a:latin typeface="전기안전체 Bold" pitchFamily="50" charset="-127"/>
                <a:ea typeface="전기안전체 Bold" pitchFamily="50" charset="-127"/>
              </a:rPr>
              <a:t>2. </a:t>
            </a:r>
            <a:r>
              <a:rPr lang="ko-KR" sz="2600" b="0" i="0" u="none" strike="noStrike" dirty="0">
                <a:solidFill>
                  <a:srgbClr val="171653"/>
                </a:solidFill>
                <a:latin typeface="전기안전체 Bold" pitchFamily="50" charset="-127"/>
                <a:ea typeface="전기안전체 Bold" pitchFamily="50" charset="-127"/>
              </a:rPr>
              <a:t>네이버</a:t>
            </a:r>
            <a:r>
              <a:rPr lang="en-US" sz="2600" b="0" i="0" u="none" strike="noStrike" dirty="0">
                <a:solidFill>
                  <a:srgbClr val="171653"/>
                </a:solidFill>
                <a:latin typeface="전기안전체 Bold" pitchFamily="50" charset="-127"/>
                <a:ea typeface="전기안전체 Bold" pitchFamily="50" charset="-127"/>
              </a:rPr>
              <a:t> API </a:t>
            </a:r>
            <a:r>
              <a:rPr lang="ko-KR" sz="2600" b="0" i="0" u="none" strike="noStrike" dirty="0">
                <a:solidFill>
                  <a:srgbClr val="171653"/>
                </a:solidFill>
                <a:latin typeface="전기안전체 Bold" pitchFamily="50" charset="-127"/>
                <a:ea typeface="전기안전체 Bold" pitchFamily="50" charset="-127"/>
              </a:rPr>
              <a:t>검색</a:t>
            </a:r>
            <a:r>
              <a:rPr lang="en-US" sz="2600" b="0" i="0" u="none" strike="noStrike" dirty="0">
                <a:solidFill>
                  <a:srgbClr val="171653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600" b="0" i="0" u="none" strike="noStrike" dirty="0">
                <a:solidFill>
                  <a:srgbClr val="171653"/>
                </a:solidFill>
                <a:latin typeface="전기안전체 Bold" pitchFamily="50" charset="-127"/>
                <a:ea typeface="전기안전체 Bold" pitchFamily="50" charset="-127"/>
              </a:rPr>
              <a:t>결과의</a:t>
            </a:r>
            <a:r>
              <a:rPr lang="en-US" sz="2600" b="0" i="0" u="none" strike="noStrike" dirty="0">
                <a:solidFill>
                  <a:srgbClr val="171653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600" b="0" i="0" u="none" strike="noStrike" dirty="0">
                <a:solidFill>
                  <a:srgbClr val="171653"/>
                </a:solidFill>
                <a:latin typeface="전기안전체 Bold" pitchFamily="50" charset="-127"/>
                <a:ea typeface="전기안전체 Bold" pitchFamily="50" charset="-127"/>
              </a:rPr>
              <a:t>부정확성</a:t>
            </a:r>
          </a:p>
          <a:p>
            <a:pPr lvl="0" algn="l">
              <a:lnSpc>
                <a:spcPct val="99600"/>
              </a:lnSpc>
              <a:defRPr/>
            </a:pPr>
            <a:r>
              <a:rPr lang="en-US" sz="2600" b="0" i="0" u="none" strike="noStrike" dirty="0">
                <a:solidFill>
                  <a:srgbClr val="171653"/>
                </a:solidFill>
                <a:latin typeface="전기안전체 Bold" pitchFamily="50" charset="-127"/>
                <a:ea typeface="전기안전체 Bold" pitchFamily="50" charset="-127"/>
              </a:rPr>
              <a:t>3. </a:t>
            </a:r>
            <a:r>
              <a:rPr lang="ko-KR" sz="2600" b="0" i="0" u="none" strike="noStrike" dirty="0">
                <a:solidFill>
                  <a:srgbClr val="171653"/>
                </a:solidFill>
                <a:latin typeface="전기안전체 Bold" pitchFamily="50" charset="-127"/>
                <a:ea typeface="전기안전체 Bold" pitchFamily="50" charset="-127"/>
              </a:rPr>
              <a:t>다양한</a:t>
            </a:r>
            <a:r>
              <a:rPr lang="en-US" sz="2600" b="0" i="0" u="none" strike="noStrike" dirty="0">
                <a:solidFill>
                  <a:srgbClr val="171653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600" b="0" i="0" u="none" strike="noStrike" dirty="0">
                <a:solidFill>
                  <a:srgbClr val="171653"/>
                </a:solidFill>
                <a:latin typeface="전기안전체 Bold" pitchFamily="50" charset="-127"/>
                <a:ea typeface="전기안전체 Bold" pitchFamily="50" charset="-127"/>
              </a:rPr>
              <a:t>기술</a:t>
            </a:r>
            <a:r>
              <a:rPr lang="en-US" sz="2600" b="0" i="0" u="none" strike="noStrike" dirty="0">
                <a:solidFill>
                  <a:srgbClr val="171653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600" b="0" i="0" u="none" strike="noStrike" dirty="0">
                <a:solidFill>
                  <a:srgbClr val="171653"/>
                </a:solidFill>
                <a:latin typeface="전기안전체 Bold" pitchFamily="50" charset="-127"/>
                <a:ea typeface="전기안전체 Bold" pitchFamily="50" charset="-127"/>
              </a:rPr>
              <a:t>스택으로</a:t>
            </a:r>
            <a:r>
              <a:rPr lang="en-US" sz="2600" b="0" i="0" u="none" strike="noStrike" dirty="0">
                <a:solidFill>
                  <a:srgbClr val="171653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600" b="0" i="0" u="none" strike="noStrike" dirty="0">
                <a:solidFill>
                  <a:srgbClr val="171653"/>
                </a:solidFill>
                <a:latin typeface="전기안전체 Bold" pitchFamily="50" charset="-127"/>
                <a:ea typeface="전기안전체 Bold" pitchFamily="50" charset="-127"/>
              </a:rPr>
              <a:t>인한</a:t>
            </a:r>
            <a:r>
              <a:rPr lang="en-US" sz="2600" b="0" i="0" u="none" strike="noStrike" dirty="0">
                <a:solidFill>
                  <a:srgbClr val="171653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600" b="0" i="0" u="none" strike="noStrike" dirty="0">
                <a:solidFill>
                  <a:srgbClr val="171653"/>
                </a:solidFill>
                <a:latin typeface="전기안전체 Bold" pitchFamily="50" charset="-127"/>
                <a:ea typeface="전기안전체 Bold" pitchFamily="50" charset="-127"/>
              </a:rPr>
              <a:t>개발</a:t>
            </a:r>
            <a:r>
              <a:rPr lang="en-US" sz="2600" b="0" i="0" u="none" strike="noStrike" dirty="0">
                <a:solidFill>
                  <a:srgbClr val="171653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600" b="0" i="0" u="none" strike="noStrike" dirty="0">
                <a:solidFill>
                  <a:srgbClr val="171653"/>
                </a:solidFill>
                <a:latin typeface="전기안전체 Bold" pitchFamily="50" charset="-127"/>
                <a:ea typeface="전기안전체 Bold" pitchFamily="50" charset="-127"/>
              </a:rPr>
              <a:t>복잡성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0" y="0"/>
            <a:ext cx="0" cy="0"/>
            <a:chOff x="0" y="0"/>
            <a:chExt cx="914400" cy="914400"/>
          </a:xfrm>
        </p:grpSpPr>
      </p:grpSp>
      <p:pic>
        <p:nvPicPr>
          <p:cNvPr id="20" name="Picture 20"/>
          <p:cNvPicPr>
            <a:picLocks noChangeAspect="1"/>
          </p:cNvPicPr>
          <p:nvPr/>
        </p:nvPicPr>
        <p:blipFill rotWithShape="1">
          <a:blip r:embed="rId11"/>
          <a:stretch>
            <a:fillRect/>
          </a:stretch>
        </p:blipFill>
        <p:spPr>
          <a:xfrm rot="5400000">
            <a:off x="6972300" y="3263900"/>
            <a:ext cx="444500" cy="4445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 rotWithShape="1">
          <a:blip r:embed="rId12"/>
          <a:stretch>
            <a:fillRect/>
          </a:stretch>
        </p:blipFill>
        <p:spPr>
          <a:xfrm rot="16200000">
            <a:off x="6972300" y="7023100"/>
            <a:ext cx="444500" cy="4445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 rotWithShape="1">
          <a:blip r:embed="rId13"/>
          <a:stretch>
            <a:fillRect/>
          </a:stretch>
        </p:blipFill>
        <p:spPr>
          <a:xfrm rot="16200000">
            <a:off x="10769600" y="3263900"/>
            <a:ext cx="444500" cy="4445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 rotWithShape="1">
          <a:blip r:embed="rId14"/>
          <a:stretch>
            <a:fillRect/>
          </a:stretch>
        </p:blipFill>
        <p:spPr>
          <a:xfrm rot="5400000">
            <a:off x="10769600" y="7023100"/>
            <a:ext cx="444500" cy="444500"/>
          </a:xfrm>
          <a:prstGeom prst="rect">
            <a:avLst/>
          </a:prstGeom>
        </p:spPr>
      </p:pic>
      <p:grpSp>
        <p:nvGrpSpPr>
          <p:cNvPr id="24" name="Group 24"/>
          <p:cNvGrpSpPr/>
          <p:nvPr/>
        </p:nvGrpSpPr>
        <p:grpSpPr>
          <a:xfrm>
            <a:off x="0" y="0"/>
            <a:ext cx="0" cy="0"/>
            <a:chOff x="0" y="0"/>
            <a:chExt cx="914400" cy="914400"/>
          </a:xfrm>
        </p:grpSpPr>
      </p:grpSp>
      <p:pic>
        <p:nvPicPr>
          <p:cNvPr id="25" name="Picture 25"/>
          <p:cNvPicPr>
            <a:picLocks noChangeAspect="1"/>
          </p:cNvPicPr>
          <p:nvPr/>
        </p:nvPicPr>
        <p:blipFill rotWithShape="1">
          <a:blip r:embed="rId15"/>
          <a:stretch>
            <a:fillRect/>
          </a:stretch>
        </p:blipFill>
        <p:spPr>
          <a:xfrm>
            <a:off x="6654800" y="2895600"/>
            <a:ext cx="2311400" cy="2311400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 rotWithShape="1">
          <a:blip r:embed="rId16"/>
          <a:stretch>
            <a:fillRect/>
          </a:stretch>
        </p:blipFill>
        <p:spPr>
          <a:xfrm>
            <a:off x="9220200" y="5448300"/>
            <a:ext cx="2311400" cy="2311400"/>
          </a:xfrm>
          <a:prstGeom prst="rect">
            <a:avLst/>
          </a:prstGeom>
        </p:spPr>
      </p:pic>
      <p:pic>
        <p:nvPicPr>
          <p:cNvPr id="27" name="Picture 27"/>
          <p:cNvPicPr>
            <a:picLocks noChangeAspect="1"/>
          </p:cNvPicPr>
          <p:nvPr/>
        </p:nvPicPr>
        <p:blipFill rotWithShape="1">
          <a:blip r:embed="rId17"/>
          <a:stretch>
            <a:fillRect/>
          </a:stretch>
        </p:blipFill>
        <p:spPr>
          <a:xfrm>
            <a:off x="6654800" y="5448300"/>
            <a:ext cx="2311400" cy="2311400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 rotWithShape="1">
          <a:blip r:embed="rId18"/>
          <a:stretch>
            <a:fillRect/>
          </a:stretch>
        </p:blipFill>
        <p:spPr>
          <a:xfrm>
            <a:off x="9220200" y="2895600"/>
            <a:ext cx="2311400" cy="2311400"/>
          </a:xfrm>
          <a:prstGeom prst="rect">
            <a:avLst/>
          </a:prstGeom>
        </p:spPr>
      </p:pic>
      <p:grpSp>
        <p:nvGrpSpPr>
          <p:cNvPr id="29" name="Group 29"/>
          <p:cNvGrpSpPr/>
          <p:nvPr/>
        </p:nvGrpSpPr>
        <p:grpSpPr>
          <a:xfrm>
            <a:off x="0" y="0"/>
            <a:ext cx="0" cy="0"/>
            <a:chOff x="0" y="0"/>
            <a:chExt cx="914400" cy="914400"/>
          </a:xfrm>
        </p:grpSpPr>
      </p:grpSp>
      <p:pic>
        <p:nvPicPr>
          <p:cNvPr id="30" name="Picture 30"/>
          <p:cNvPicPr>
            <a:picLocks noChangeAspect="1"/>
          </p:cNvPicPr>
          <p:nvPr/>
        </p:nvPicPr>
        <p:blipFill rotWithShape="1">
          <a:blip r:embed="rId19">
            <a:alphaModFix amt="50000"/>
          </a:blip>
          <a:stretch>
            <a:fillRect/>
          </a:stretch>
        </p:blipFill>
        <p:spPr>
          <a:xfrm rot="13620000">
            <a:off x="8775700" y="5067300"/>
            <a:ext cx="1701800" cy="1778000"/>
          </a:xfrm>
          <a:prstGeom prst="rect">
            <a:avLst/>
          </a:prstGeom>
        </p:spPr>
      </p:pic>
      <p:pic>
        <p:nvPicPr>
          <p:cNvPr id="31" name="Picture 31"/>
          <p:cNvPicPr>
            <a:picLocks noChangeAspect="1"/>
          </p:cNvPicPr>
          <p:nvPr/>
        </p:nvPicPr>
        <p:blipFill rotWithShape="1">
          <a:blip r:embed="rId20">
            <a:alphaModFix amt="15000"/>
          </a:blip>
          <a:stretch>
            <a:fillRect/>
          </a:stretch>
        </p:blipFill>
        <p:spPr>
          <a:xfrm>
            <a:off x="8039100" y="4330700"/>
            <a:ext cx="2146300" cy="2146300"/>
          </a:xfrm>
          <a:prstGeom prst="rect">
            <a:avLst/>
          </a:prstGeom>
        </p:spPr>
      </p:pic>
      <p:pic>
        <p:nvPicPr>
          <p:cNvPr id="32" name="Picture 32"/>
          <p:cNvPicPr>
            <a:picLocks noChangeAspect="1"/>
          </p:cNvPicPr>
          <p:nvPr/>
        </p:nvPicPr>
        <p:blipFill rotWithShape="1">
          <a:blip r:embed="rId21"/>
          <a:stretch>
            <a:fillRect/>
          </a:stretch>
        </p:blipFill>
        <p:spPr>
          <a:xfrm>
            <a:off x="8229600" y="4521200"/>
            <a:ext cx="1765300" cy="1765300"/>
          </a:xfrm>
          <a:prstGeom prst="rect">
            <a:avLst/>
          </a:prstGeom>
          <a:effectLst>
            <a:outerShdw blurRad="31081" dist="163069" dir="2700000">
              <a:srgbClr val="000000">
                <a:alpha val="50000"/>
              </a:srgbClr>
            </a:outerShdw>
          </a:effectLst>
        </p:spPr>
      </p:pic>
      <p:sp>
        <p:nvSpPr>
          <p:cNvPr id="33" name="TextBox 33"/>
          <p:cNvSpPr txBox="1"/>
          <p:nvPr/>
        </p:nvSpPr>
        <p:spPr>
          <a:xfrm>
            <a:off x="7620000" y="3695700"/>
            <a:ext cx="495300" cy="8001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116199"/>
              </a:lnSpc>
              <a:defRPr/>
            </a:pPr>
            <a:r>
              <a:rPr lang="en-US" sz="4500" b="0" i="0" u="none" strike="noStrike" dirty="0">
                <a:solidFill>
                  <a:srgbClr val="F3F5FF"/>
                </a:solidFill>
                <a:latin typeface="전기안전체 Bold" pitchFamily="50" charset="-127"/>
                <a:ea typeface="전기안전체 Bold" pitchFamily="50" charset="-127"/>
              </a:rPr>
              <a:t>S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918700" y="3695700"/>
            <a:ext cx="673100" cy="8001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116199"/>
              </a:lnSpc>
              <a:defRPr/>
            </a:pPr>
            <a:r>
              <a:rPr lang="en-US" sz="4500" b="0" i="0" u="none" strike="noStrike" dirty="0">
                <a:solidFill>
                  <a:srgbClr val="F3F5FF"/>
                </a:solidFill>
                <a:latin typeface="전기안전체 Bold" pitchFamily="50" charset="-127"/>
                <a:ea typeface="전기안전체 Bold" pitchFamily="50" charset="-127"/>
              </a:rPr>
              <a:t>W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620000" y="6184900"/>
            <a:ext cx="495300" cy="8001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116199"/>
              </a:lnSpc>
              <a:defRPr/>
            </a:pPr>
            <a:r>
              <a:rPr lang="en-US" sz="4500" b="0" i="0" u="none" strike="noStrike" dirty="0">
                <a:solidFill>
                  <a:srgbClr val="F3F5FF"/>
                </a:solidFill>
                <a:latin typeface="전기안전체 Bold" pitchFamily="50" charset="-127"/>
                <a:ea typeface="전기안전체 Bold" pitchFamily="50" charset="-127"/>
              </a:rPr>
              <a:t>O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9944100" y="6172200"/>
            <a:ext cx="673100" cy="8001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116199"/>
              </a:lnSpc>
              <a:defRPr/>
            </a:pPr>
            <a:r>
              <a:rPr lang="en-US" sz="4500" b="0" i="0" u="none" strike="noStrike" dirty="0">
                <a:solidFill>
                  <a:srgbClr val="F3F5FF"/>
                </a:solidFill>
                <a:latin typeface="전기안전체 Bold" pitchFamily="50" charset="-127"/>
                <a:ea typeface="전기안전체 Bold" pitchFamily="50" charset="-127"/>
              </a:rPr>
              <a:t>T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-184150" y="266405"/>
            <a:ext cx="8051800" cy="8001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116199"/>
              </a:lnSpc>
              <a:defRPr/>
            </a:pPr>
            <a:r>
              <a:rPr lang="en-US" sz="4500" b="0" i="0" u="none" strike="noStrike" dirty="0">
                <a:solidFill>
                  <a:srgbClr val="171653"/>
                </a:solidFill>
                <a:latin typeface="전기안전체 Bold" pitchFamily="50" charset="-127"/>
                <a:ea typeface="전기안전체 Bold" pitchFamily="50" charset="-127"/>
              </a:rPr>
              <a:t>Supple It  SWOT </a:t>
            </a:r>
            <a:r>
              <a:rPr lang="ko-KR" sz="4500" b="0" i="0" u="none" strike="noStrike" dirty="0">
                <a:solidFill>
                  <a:srgbClr val="171653"/>
                </a:solidFill>
                <a:latin typeface="전기안전체 Bold" pitchFamily="50" charset="-127"/>
                <a:ea typeface="전기안전체 Bold" pitchFamily="50" charset="-127"/>
              </a:rPr>
              <a:t>분석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838200" y="228600"/>
            <a:ext cx="17221200" cy="95123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8001000" y="2273300"/>
            <a:ext cx="6388100" cy="63881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1905000" y="5245100"/>
            <a:ext cx="14541500" cy="3937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22839"/>
              </a:lnSpc>
              <a:defRPr/>
            </a:pPr>
            <a:endParaRPr lang="ko-KR" sz="2300" b="0" i="0" u="none" strike="noStrike" spc="-100" dirty="0">
              <a:solidFill>
                <a:srgbClr val="000000"/>
              </a:solidFill>
              <a:latin typeface="전기안전체 Bold" pitchFamily="50" charset="-127"/>
              <a:ea typeface="전기안전체 Bold" pitchFamily="50" charset="-127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2064164" y="4078909"/>
            <a:ext cx="7086600" cy="10795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06240"/>
              </a:lnSpc>
              <a:defRPr/>
            </a:pPr>
            <a:r>
              <a:rPr lang="ko-KR" sz="6100" b="0" i="0" u="none" strike="noStrike" spc="-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개발</a:t>
            </a:r>
            <a:r>
              <a:rPr lang="en-US" sz="6100" b="0" i="0" u="none" strike="noStrike" spc="-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6100" b="0" i="0" u="none" strike="noStrike" spc="-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일정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E12CD4-1640-034A-3C42-104834211CF0}"/>
              </a:ext>
            </a:extLst>
          </p:cNvPr>
          <p:cNvSpPr txBox="1"/>
          <p:nvPr/>
        </p:nvSpPr>
        <p:spPr>
          <a:xfrm>
            <a:off x="2347429" y="5372100"/>
            <a:ext cx="3276600" cy="14150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lnSpc>
                <a:spcPct val="124499"/>
              </a:lnSpc>
              <a:defRPr/>
            </a:pPr>
            <a:r>
              <a:rPr lang="en-US" altLang="ko-KR" sz="3600" b="0" i="0" u="none" strike="noStrike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- </a:t>
            </a:r>
            <a:r>
              <a:rPr lang="ko-KR" altLang="ko-KR" sz="3600" b="0" i="0" u="none" strike="noStrike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프로젝</a:t>
            </a:r>
            <a:r>
              <a:rPr lang="ko-KR" altLang="en-US" sz="3600" b="0" i="0" u="none" strike="noStrike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트 일정</a:t>
            </a:r>
          </a:p>
          <a:p>
            <a:pPr lvl="0" algn="l">
              <a:lnSpc>
                <a:spcPct val="124499"/>
              </a:lnSpc>
              <a:defRPr/>
            </a:pPr>
            <a:r>
              <a:rPr lang="en-US" altLang="ko-KR" sz="3600" b="0" i="0" u="none" strike="noStrike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-</a:t>
            </a:r>
            <a:r>
              <a:rPr lang="ko-KR" altLang="en-US" sz="3600" b="0" i="0" u="none" strike="noStrike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altLang="ko-KR" sz="3600" b="0" i="0" u="none" strike="noStrike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공정표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-101600"/>
            <a:ext cx="1765300" cy="1752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-165100" y="8737600"/>
            <a:ext cx="16535400" cy="1752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5400000">
            <a:off x="-12700" y="-368300"/>
            <a:ext cx="3543300" cy="4953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10800000">
            <a:off x="-2768600" y="1358900"/>
            <a:ext cx="19989800" cy="4953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 rot="10800000">
            <a:off x="-254000" y="8496300"/>
            <a:ext cx="16687800" cy="4953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 rot="5400000">
            <a:off x="11811000" y="5905500"/>
            <a:ext cx="9105900" cy="4953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2146300" y="215900"/>
            <a:ext cx="15227300" cy="1066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09559"/>
              </a:lnSpc>
              <a:defRPr/>
            </a:pPr>
            <a:r>
              <a:rPr lang="ko-KR" sz="6000" b="0" i="0" u="none" strike="noStrike" spc="-4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프로젝트</a:t>
            </a:r>
            <a:r>
              <a:rPr lang="en-US" sz="6000" b="0" i="0" u="none" strike="noStrike" spc="-4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6000" b="0" i="0" u="none" strike="noStrike" spc="-4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일정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89710" y="2579369"/>
            <a:ext cx="4965700" cy="444500"/>
          </a:xfrm>
          <a:prstGeom prst="rect">
            <a:avLst/>
          </a:prstGeom>
        </p:spPr>
        <p:txBody>
          <a:bodyPr lIns="0" tIns="0" rIns="0" bIns="0" anchor="b"/>
          <a:lstStyle/>
          <a:p>
            <a:pPr lvl="0" algn="l">
              <a:lnSpc>
                <a:spcPct val="99600"/>
              </a:lnSpc>
              <a:defRPr/>
            </a:pPr>
            <a:r>
              <a:rPr lang="en-US" sz="4000" b="0" i="0" u="none" strike="noStrike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1</a:t>
            </a:r>
            <a:r>
              <a:rPr lang="ko-KR" sz="4000" b="0" i="0" u="none" strike="noStrike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주차</a:t>
            </a:r>
            <a:r>
              <a:rPr lang="en-US" sz="4000" b="0" i="0" u="none" strike="noStrike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: </a:t>
            </a:r>
            <a:r>
              <a:rPr lang="ko-KR" sz="4000" b="0" i="0" u="none" strike="noStrike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기획</a:t>
            </a:r>
            <a:r>
              <a:rPr lang="en-US" sz="4000" b="0" i="0" u="none" strike="noStrike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4000" b="0" i="0" u="none" strike="noStrike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및</a:t>
            </a:r>
            <a:r>
              <a:rPr lang="en-US" sz="4000" b="0" i="0" u="none" strike="noStrike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4000" b="0" i="0" u="none" strike="noStrike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설계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902460" y="3163569"/>
            <a:ext cx="4953000" cy="16510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24499"/>
              </a:lnSpc>
              <a:defRPr/>
            </a:pPr>
            <a:r>
              <a:rPr lang="en-US" sz="24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- </a:t>
            </a:r>
            <a:r>
              <a:rPr lang="ko-KR" sz="24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주제</a:t>
            </a:r>
            <a:r>
              <a:rPr lang="en-US" sz="24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4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설정</a:t>
            </a:r>
          </a:p>
          <a:p>
            <a:pPr lvl="0" algn="l">
              <a:lnSpc>
                <a:spcPct val="124499"/>
              </a:lnSpc>
              <a:defRPr/>
            </a:pPr>
            <a:r>
              <a:rPr lang="en-US" sz="24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-</a:t>
            </a:r>
            <a:r>
              <a:rPr lang="ko-KR" sz="24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화면</a:t>
            </a:r>
            <a:r>
              <a:rPr lang="en-US" sz="24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4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설계</a:t>
            </a:r>
          </a:p>
          <a:p>
            <a:pPr lvl="0" algn="l">
              <a:lnSpc>
                <a:spcPct val="124499"/>
              </a:lnSpc>
              <a:defRPr/>
            </a:pPr>
            <a:r>
              <a:rPr lang="en-US" sz="24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-</a:t>
            </a:r>
            <a:r>
              <a:rPr lang="ko-KR" sz="24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화면</a:t>
            </a:r>
            <a:r>
              <a:rPr lang="en-US" sz="24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4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정의서</a:t>
            </a:r>
            <a:r>
              <a:rPr lang="en-US" sz="24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4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작성</a:t>
            </a:r>
          </a:p>
          <a:p>
            <a:pPr lvl="0" algn="l">
              <a:lnSpc>
                <a:spcPct val="124499"/>
              </a:lnSpc>
              <a:defRPr/>
            </a:pPr>
            <a:r>
              <a:rPr lang="en-US" sz="24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-</a:t>
            </a:r>
            <a:r>
              <a:rPr lang="ko-KR" sz="24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개발</a:t>
            </a:r>
            <a:r>
              <a:rPr lang="en-US" sz="24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4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환경</a:t>
            </a:r>
            <a:r>
              <a:rPr lang="en-US" sz="24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4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세팅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605520" y="2523490"/>
            <a:ext cx="4965700" cy="444500"/>
          </a:xfrm>
          <a:prstGeom prst="rect">
            <a:avLst/>
          </a:prstGeom>
        </p:spPr>
        <p:txBody>
          <a:bodyPr lIns="0" tIns="0" rIns="0" bIns="0" anchor="b"/>
          <a:lstStyle/>
          <a:p>
            <a:pPr lvl="0" algn="l">
              <a:lnSpc>
                <a:spcPct val="99600"/>
              </a:lnSpc>
              <a:defRPr/>
            </a:pPr>
            <a:r>
              <a:rPr lang="en-US" sz="4000" b="0" i="0" u="none" strike="noStrike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2</a:t>
            </a:r>
            <a:r>
              <a:rPr lang="ko-KR" sz="4000" b="0" i="0" u="none" strike="noStrike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주차</a:t>
            </a:r>
            <a:r>
              <a:rPr lang="en-US" sz="4000" b="0" i="0" u="none" strike="noStrike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: </a:t>
            </a:r>
            <a:r>
              <a:rPr lang="ko-KR" sz="4000" b="0" i="0" u="none" strike="noStrike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분석</a:t>
            </a:r>
            <a:r>
              <a:rPr lang="en-US" sz="4000" b="0" i="0" u="none" strike="noStrike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4000" b="0" i="0" u="none" strike="noStrike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및</a:t>
            </a:r>
            <a:r>
              <a:rPr lang="en-US" sz="4000" b="0" i="0" u="none" strike="noStrike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4000" b="0" i="0" u="none" strike="noStrike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설계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065260" y="3246120"/>
            <a:ext cx="4953000" cy="16510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24499"/>
              </a:lnSpc>
              <a:defRPr/>
            </a:pPr>
            <a:r>
              <a:rPr lang="en-US" sz="24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- </a:t>
            </a:r>
            <a:r>
              <a:rPr lang="ko-KR" sz="24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사용</a:t>
            </a:r>
            <a:r>
              <a:rPr lang="en-US" sz="24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API </a:t>
            </a:r>
            <a:r>
              <a:rPr lang="ko-KR" sz="24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기술</a:t>
            </a:r>
            <a:r>
              <a:rPr lang="en-US" sz="24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4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분석</a:t>
            </a:r>
            <a:r>
              <a:rPr lang="en-US" sz="24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 </a:t>
            </a:r>
          </a:p>
          <a:p>
            <a:pPr lvl="0" algn="l">
              <a:lnSpc>
                <a:spcPct val="124499"/>
              </a:lnSpc>
              <a:defRPr/>
            </a:pPr>
            <a:r>
              <a:rPr lang="en-US" sz="24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- DB </a:t>
            </a:r>
            <a:r>
              <a:rPr lang="ko-KR" sz="24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모델링</a:t>
            </a:r>
            <a:r>
              <a:rPr lang="en-US" sz="24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ERD </a:t>
            </a:r>
            <a:r>
              <a:rPr lang="ko-KR" sz="24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작성</a:t>
            </a:r>
          </a:p>
          <a:p>
            <a:pPr lvl="0" algn="l">
              <a:lnSpc>
                <a:spcPct val="124499"/>
              </a:lnSpc>
              <a:defRPr/>
            </a:pPr>
            <a:r>
              <a:rPr lang="en-US" sz="24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- </a:t>
            </a:r>
            <a:r>
              <a:rPr lang="ko-KR" sz="24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클래스</a:t>
            </a:r>
            <a:r>
              <a:rPr lang="en-US" sz="24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4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설계</a:t>
            </a:r>
          </a:p>
          <a:p>
            <a:pPr lvl="0" algn="l">
              <a:lnSpc>
                <a:spcPct val="124499"/>
              </a:lnSpc>
              <a:defRPr/>
            </a:pPr>
            <a:r>
              <a:rPr lang="en-US" sz="24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- MVC </a:t>
            </a:r>
            <a:r>
              <a:rPr lang="ko-KR" sz="24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설계</a:t>
            </a:r>
            <a:r>
              <a:rPr lang="en-US" sz="24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 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489710" y="5539739"/>
            <a:ext cx="4965700" cy="444500"/>
          </a:xfrm>
          <a:prstGeom prst="rect">
            <a:avLst/>
          </a:prstGeom>
        </p:spPr>
        <p:txBody>
          <a:bodyPr lIns="0" tIns="0" rIns="0" bIns="0" anchor="b"/>
          <a:lstStyle/>
          <a:p>
            <a:pPr lvl="0" algn="l">
              <a:lnSpc>
                <a:spcPct val="99600"/>
              </a:lnSpc>
              <a:defRPr/>
            </a:pPr>
            <a:r>
              <a:rPr lang="en-US" sz="4000" b="0" i="0" u="none" strike="noStrike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3</a:t>
            </a:r>
            <a:r>
              <a:rPr lang="ko-KR" sz="4000" b="0" i="0" u="none" strike="noStrike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주차</a:t>
            </a:r>
            <a:r>
              <a:rPr lang="en-US" sz="4000" b="0" i="0" u="none" strike="noStrike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: </a:t>
            </a:r>
            <a:r>
              <a:rPr lang="ko-KR" sz="4000" b="0" i="0" u="none" strike="noStrike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개발</a:t>
            </a:r>
            <a:r>
              <a:rPr lang="en-US" sz="4000" b="0" i="0" u="none" strike="noStrike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4000" b="0" i="0" u="none" strike="noStrike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구현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902460" y="6184900"/>
            <a:ext cx="4953000" cy="2070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24499"/>
              </a:lnSpc>
              <a:defRPr/>
            </a:pPr>
            <a:r>
              <a:rPr lang="en-US" sz="24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- </a:t>
            </a:r>
            <a:r>
              <a:rPr lang="ko-KR" sz="24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맞춤</a:t>
            </a:r>
            <a:r>
              <a:rPr lang="en-US" sz="24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4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추천</a:t>
            </a:r>
            <a:r>
              <a:rPr lang="en-US" sz="24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4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알고리즘</a:t>
            </a:r>
            <a:r>
              <a:rPr lang="en-US" sz="24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4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개발</a:t>
            </a:r>
          </a:p>
          <a:p>
            <a:pPr lvl="0" algn="l">
              <a:lnSpc>
                <a:spcPct val="124499"/>
              </a:lnSpc>
              <a:defRPr/>
            </a:pPr>
            <a:r>
              <a:rPr lang="en-US" sz="24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- </a:t>
            </a:r>
            <a:r>
              <a:rPr lang="ko-KR" sz="24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프론트</a:t>
            </a:r>
            <a:r>
              <a:rPr lang="en-US" sz="24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4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엔드</a:t>
            </a:r>
            <a:r>
              <a:rPr lang="en-US" sz="24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  (</a:t>
            </a:r>
            <a:r>
              <a:rPr lang="ko-KR" sz="24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화면</a:t>
            </a:r>
            <a:r>
              <a:rPr lang="en-US" sz="24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4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구성</a:t>
            </a:r>
            <a:r>
              <a:rPr lang="en-US" sz="24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, </a:t>
            </a:r>
            <a:r>
              <a:rPr lang="ko-KR" sz="24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디자인</a:t>
            </a:r>
            <a:r>
              <a:rPr lang="en-US" sz="24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)</a:t>
            </a:r>
          </a:p>
          <a:p>
            <a:pPr lvl="0" algn="l">
              <a:lnSpc>
                <a:spcPct val="124499"/>
              </a:lnSpc>
              <a:defRPr/>
            </a:pPr>
            <a:r>
              <a:rPr lang="en-US" sz="24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- </a:t>
            </a:r>
            <a:r>
              <a:rPr lang="ko-KR" sz="24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백</a:t>
            </a:r>
            <a:r>
              <a:rPr lang="en-US" sz="24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4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엔드</a:t>
            </a:r>
            <a:r>
              <a:rPr lang="en-US" sz="24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  (DB, MVC)</a:t>
            </a:r>
          </a:p>
          <a:p>
            <a:pPr lvl="0" algn="l">
              <a:lnSpc>
                <a:spcPct val="124499"/>
              </a:lnSpc>
              <a:defRPr/>
            </a:pPr>
            <a:r>
              <a:rPr lang="en-US" sz="24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- </a:t>
            </a:r>
            <a:r>
              <a:rPr lang="ko-KR" altLang="en-US" sz="24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소셜 로그인</a:t>
            </a:r>
            <a:endParaRPr lang="ko-KR" sz="2400" b="0" i="0" u="none" strike="noStrike" spc="-100" dirty="0">
              <a:solidFill>
                <a:srgbClr val="000000"/>
              </a:solidFill>
              <a:latin typeface="전기안전체 Bold" pitchFamily="50" charset="-127"/>
              <a:ea typeface="전기안전체 Bold" pitchFamily="50" charset="-127"/>
            </a:endParaRPr>
          </a:p>
          <a:p>
            <a:pPr lvl="0" algn="l">
              <a:lnSpc>
                <a:spcPct val="124499"/>
              </a:lnSpc>
              <a:defRPr/>
            </a:pPr>
            <a:r>
              <a:rPr lang="en-US" sz="24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- </a:t>
            </a:r>
            <a:r>
              <a:rPr lang="ko-KR" sz="24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게시판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605520" y="5603240"/>
            <a:ext cx="7581900" cy="444500"/>
          </a:xfrm>
          <a:prstGeom prst="rect">
            <a:avLst/>
          </a:prstGeom>
        </p:spPr>
        <p:txBody>
          <a:bodyPr lIns="0" tIns="0" rIns="0" bIns="0" anchor="b"/>
          <a:lstStyle/>
          <a:p>
            <a:pPr lvl="0" algn="l">
              <a:lnSpc>
                <a:spcPct val="99600"/>
              </a:lnSpc>
              <a:defRPr/>
            </a:pPr>
            <a:r>
              <a:rPr lang="en-US" sz="4000" b="0" i="0" u="none" strike="noStrike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4</a:t>
            </a:r>
            <a:r>
              <a:rPr lang="ko-KR" sz="4000" b="0" i="0" u="none" strike="noStrike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주차</a:t>
            </a:r>
            <a:r>
              <a:rPr lang="en-US" sz="4000" b="0" i="0" u="none" strike="noStrike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: </a:t>
            </a:r>
            <a:r>
              <a:rPr lang="ko-KR" sz="4000" b="0" i="0" u="none" strike="noStrike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테스트</a:t>
            </a:r>
            <a:r>
              <a:rPr lang="en-US" sz="4000" b="0" i="0" u="none" strike="noStrike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4000" b="0" i="0" u="none" strike="noStrike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및</a:t>
            </a:r>
            <a:r>
              <a:rPr lang="en-US" sz="4000" b="0" i="0" u="none" strike="noStrike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4000" b="0" i="0" u="none" strike="noStrike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디버깅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065260" y="6142990"/>
            <a:ext cx="7581900" cy="2070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24499"/>
              </a:lnSpc>
              <a:defRPr/>
            </a:pPr>
            <a:r>
              <a:rPr lang="en-US" sz="24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- </a:t>
            </a:r>
            <a:r>
              <a:rPr lang="ko-KR" sz="24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통합</a:t>
            </a:r>
            <a:r>
              <a:rPr lang="en-US" sz="24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4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테스트</a:t>
            </a:r>
            <a:r>
              <a:rPr lang="en-US" sz="24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4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수행</a:t>
            </a:r>
          </a:p>
          <a:p>
            <a:pPr lvl="0" algn="l">
              <a:lnSpc>
                <a:spcPct val="124499"/>
              </a:lnSpc>
              <a:defRPr/>
            </a:pPr>
            <a:r>
              <a:rPr lang="en-US" sz="24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- </a:t>
            </a:r>
            <a:r>
              <a:rPr lang="ko-KR" sz="24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버그</a:t>
            </a:r>
            <a:r>
              <a:rPr lang="en-US" sz="24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4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수정</a:t>
            </a:r>
            <a:r>
              <a:rPr lang="en-US" sz="24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4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및</a:t>
            </a:r>
            <a:r>
              <a:rPr lang="en-US" sz="24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4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성능</a:t>
            </a:r>
            <a:r>
              <a:rPr lang="en-US" sz="24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4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최적화</a:t>
            </a:r>
          </a:p>
          <a:p>
            <a:pPr lvl="0" algn="l">
              <a:lnSpc>
                <a:spcPct val="124499"/>
              </a:lnSpc>
              <a:defRPr/>
            </a:pPr>
            <a:r>
              <a:rPr lang="en-US" sz="24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- </a:t>
            </a:r>
            <a:r>
              <a:rPr lang="ko-KR" sz="24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사용자</a:t>
            </a:r>
            <a:r>
              <a:rPr lang="en-US" sz="24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4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피드백</a:t>
            </a:r>
            <a:r>
              <a:rPr lang="en-US" sz="24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4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수집</a:t>
            </a:r>
            <a:r>
              <a:rPr lang="en-US" sz="24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4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및</a:t>
            </a:r>
            <a:r>
              <a:rPr lang="en-US" sz="24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4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반영</a:t>
            </a:r>
          </a:p>
          <a:p>
            <a:pPr lvl="0" algn="l">
              <a:lnSpc>
                <a:spcPct val="124499"/>
              </a:lnSpc>
              <a:defRPr/>
            </a:pPr>
            <a:r>
              <a:rPr lang="en-US" sz="24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- </a:t>
            </a:r>
            <a:r>
              <a:rPr lang="ko-KR" sz="24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보안</a:t>
            </a:r>
            <a:r>
              <a:rPr lang="en-US" sz="24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4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취약점</a:t>
            </a:r>
            <a:r>
              <a:rPr lang="en-US" sz="24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4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점검</a:t>
            </a:r>
            <a:r>
              <a:rPr lang="en-US" sz="24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4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및</a:t>
            </a:r>
            <a:r>
              <a:rPr lang="en-US" sz="24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4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개선</a:t>
            </a:r>
          </a:p>
          <a:p>
            <a:pPr lvl="0" algn="l">
              <a:lnSpc>
                <a:spcPct val="124499"/>
              </a:lnSpc>
              <a:defRPr/>
            </a:pPr>
            <a:r>
              <a:rPr lang="en-US" sz="24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- </a:t>
            </a:r>
            <a:r>
              <a:rPr lang="ko-KR" sz="24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자료</a:t>
            </a:r>
            <a:r>
              <a:rPr lang="en-US" sz="24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4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정리</a:t>
            </a:r>
            <a:r>
              <a:rPr lang="en-US" sz="24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4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및</a:t>
            </a:r>
            <a:r>
              <a:rPr lang="en-US" sz="24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4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발표</a:t>
            </a:r>
            <a:r>
              <a:rPr lang="en-US" sz="24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4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준비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914400" y="723900"/>
            <a:ext cx="16321526" cy="9180859"/>
          </a:xfrm>
          <a:prstGeom prst="rect">
            <a:avLst/>
          </a:prstGeom>
        </p:spPr>
      </p:pic>
      <p:sp>
        <p:nvSpPr>
          <p:cNvPr id="3" name="TextBox 8">
            <a:extLst>
              <a:ext uri="{FF2B5EF4-FFF2-40B4-BE49-F238E27FC236}">
                <a16:creationId xmlns:a16="http://schemas.microsoft.com/office/drawing/2014/main" id="{48EFD9E2-1C51-970A-03C5-5280592C7FB8}"/>
              </a:ext>
            </a:extLst>
          </p:cNvPr>
          <p:cNvSpPr txBox="1"/>
          <p:nvPr/>
        </p:nvSpPr>
        <p:spPr>
          <a:xfrm>
            <a:off x="609600" y="229841"/>
            <a:ext cx="15227300" cy="1066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09559"/>
              </a:lnSpc>
              <a:defRPr/>
            </a:pPr>
            <a:r>
              <a:rPr lang="ko-KR" altLang="en-US" sz="6000" b="0" i="0" u="none" strike="noStrike" spc="-4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프로젝트 공정표</a:t>
            </a:r>
            <a:endParaRPr lang="ko-KR" sz="6000" b="0" i="0" u="none" strike="noStrike" spc="-400" dirty="0">
              <a:solidFill>
                <a:srgbClr val="000000"/>
              </a:solidFill>
              <a:latin typeface="전기안전체 Bold" pitchFamily="50" charset="-127"/>
              <a:ea typeface="전기안전체 Bold" pitchFamily="50" charset="-127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838200" y="228600"/>
            <a:ext cx="17221200" cy="95123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8007350" y="2082801"/>
            <a:ext cx="6959600" cy="71628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2743200" y="4838701"/>
            <a:ext cx="14541500" cy="8255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22839"/>
              </a:lnSpc>
              <a:defRPr/>
            </a:pPr>
            <a:r>
              <a:rPr lang="en-US" altLang="ko-KR" sz="36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- </a:t>
            </a:r>
            <a:r>
              <a:rPr lang="ko-KR" altLang="ko-KR" sz="36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아키텍처</a:t>
            </a:r>
            <a:r>
              <a:rPr lang="en-US" altLang="ko-KR" sz="36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altLang="en-US" sz="36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구조</a:t>
            </a:r>
            <a:r>
              <a:rPr lang="en-US" altLang="ko-KR" sz="36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 </a:t>
            </a:r>
            <a:endParaRPr lang="en-US" sz="3600" b="0" i="0" u="none" strike="noStrike" spc="-100" dirty="0">
              <a:solidFill>
                <a:srgbClr val="000000"/>
              </a:solidFill>
              <a:latin typeface="전기안전체 Bold" pitchFamily="50" charset="-127"/>
              <a:ea typeface="전기안전체 Bold" pitchFamily="50" charset="-127"/>
            </a:endParaRPr>
          </a:p>
          <a:p>
            <a:pPr marL="342900" lvl="0" indent="-342900" algn="l">
              <a:lnSpc>
                <a:spcPct val="122839"/>
              </a:lnSpc>
              <a:buFontTx/>
              <a:buChar char="-"/>
              <a:defRPr/>
            </a:pPr>
            <a:r>
              <a:rPr lang="en-US" sz="36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ERD</a:t>
            </a:r>
          </a:p>
          <a:p>
            <a:pPr marL="342900" lvl="0" indent="-342900" algn="l">
              <a:lnSpc>
                <a:spcPct val="122839"/>
              </a:lnSpc>
              <a:buFontTx/>
              <a:buChar char="-"/>
              <a:defRPr/>
            </a:pPr>
            <a:r>
              <a:rPr lang="en-US" sz="36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Use Case</a:t>
            </a:r>
          </a:p>
          <a:p>
            <a:pPr marL="342900" lvl="0" indent="-342900" algn="l">
              <a:lnSpc>
                <a:spcPct val="122839"/>
              </a:lnSpc>
              <a:buFontTx/>
              <a:buChar char="-"/>
              <a:defRPr/>
            </a:pPr>
            <a:r>
              <a:rPr lang="en-US" altLang="ko-KR" sz="36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Flowchart </a:t>
            </a:r>
          </a:p>
          <a:p>
            <a:pPr marL="342900" lvl="0" indent="-342900" algn="l">
              <a:lnSpc>
                <a:spcPct val="122839"/>
              </a:lnSpc>
              <a:buFontTx/>
              <a:buChar char="-"/>
              <a:defRPr/>
            </a:pPr>
            <a:r>
              <a:rPr lang="ko-KR" altLang="en-US" sz="3600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화면 설계서</a:t>
            </a:r>
            <a:endParaRPr lang="en-US" sz="3600" b="0" i="0" u="none" strike="noStrike" spc="-100" dirty="0">
              <a:solidFill>
                <a:srgbClr val="000000"/>
              </a:solidFill>
              <a:latin typeface="전기안전체 Bold" pitchFamily="50" charset="-127"/>
              <a:ea typeface="전기안전체 Bold" pitchFamily="50" charset="-127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2501900" y="3543300"/>
            <a:ext cx="14630400" cy="10795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06240"/>
              </a:lnSpc>
              <a:defRPr/>
            </a:pPr>
            <a:r>
              <a:rPr lang="ko-KR" sz="6100" b="0" i="0" u="none" strike="noStrike" spc="-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프로젝트</a:t>
            </a:r>
            <a:r>
              <a:rPr lang="en-US" sz="6100" b="0" i="0" u="none" strike="noStrike" spc="-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6100" b="0" i="0" u="none" strike="noStrike" spc="-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설계</a:t>
            </a:r>
            <a:r>
              <a:rPr lang="en-US" sz="6100" b="0" i="0" u="none" strike="noStrike" spc="-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 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텍스트, 스크린샷, 폰트, 그래픽이(가) 표시된 사진">
            <a:extLst>
              <a:ext uri="{FF2B5EF4-FFF2-40B4-BE49-F238E27FC236}">
                <a16:creationId xmlns:a16="http://schemas.microsoft.com/office/drawing/2014/main" id="{D2632F91-5D26-65BB-FBA5-C919E007F8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762000" y="342900"/>
            <a:ext cx="4572000" cy="11430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99600"/>
              </a:lnSpc>
              <a:defRPr/>
            </a:pPr>
            <a:r>
              <a:rPr lang="ko-KR" sz="5300" b="0" i="0" u="none" strike="noStrike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아키텍처</a:t>
            </a:r>
            <a:r>
              <a:rPr lang="en-US" sz="5300" b="0" i="0" u="none" strike="noStrike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5300" b="0" i="0" u="none" strike="noStrike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구조</a:t>
            </a:r>
          </a:p>
        </p:txBody>
      </p:sp>
    </p:spTree>
    <p:extLst>
      <p:ext uri="{BB962C8B-B14F-4D97-AF65-F5344CB8AC3E}">
        <p14:creationId xmlns:p14="http://schemas.microsoft.com/office/powerpoint/2010/main" val="1572679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직사각형, 평행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6C12D710-84AD-8CF8-18AA-965A35BFBC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9200" y="-114300"/>
            <a:ext cx="18288000" cy="10248523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0" y="342900"/>
            <a:ext cx="4462670" cy="9144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ctr">
              <a:lnSpc>
                <a:spcPct val="99600"/>
              </a:lnSpc>
              <a:defRPr/>
            </a:pPr>
            <a:r>
              <a:rPr lang="en-US" sz="5300" b="0" i="0" u="none" strike="noStrike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ER</a:t>
            </a:r>
            <a:r>
              <a:rPr lang="en-US" sz="53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D</a:t>
            </a:r>
            <a:r>
              <a:rPr lang="ko-KR" altLang="en-US" sz="53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5300" b="0" i="0" u="none" strike="noStrike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설계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676400" y="1104900"/>
            <a:ext cx="15294969" cy="88392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609600" y="38100"/>
            <a:ext cx="4495800" cy="10668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22839"/>
              </a:lnSpc>
              <a:defRPr/>
            </a:pPr>
            <a:r>
              <a:rPr lang="en-US" altLang="ko-KR" sz="54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Flowchart</a:t>
            </a:r>
            <a:endParaRPr lang="en-US" altLang="ko-KR" sz="5400" spc="-100" dirty="0">
              <a:solidFill>
                <a:srgbClr val="000000"/>
              </a:solidFill>
              <a:latin typeface="전기안전체 Bold" pitchFamily="50" charset="-127"/>
              <a:ea typeface="전기안전체 Bold" pitchFamily="50" charset="-127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2667000" y="1333500"/>
            <a:ext cx="13106400" cy="8410648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88900" y="165100"/>
            <a:ext cx="7073900" cy="11684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ctr">
              <a:lnSpc>
                <a:spcPct val="99600"/>
              </a:lnSpc>
              <a:defRPr/>
            </a:pPr>
            <a:r>
              <a:rPr lang="en-US" sz="5300" b="0" i="0" u="none" strike="noStrike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Use Case Diagram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5039846" y="863554"/>
            <a:ext cx="7411348" cy="899275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4461983" y="876132"/>
            <a:ext cx="8662309" cy="9157972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605394" y="1070226"/>
            <a:ext cx="14846300" cy="9205178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4114800" y="1517029"/>
            <a:ext cx="8939644" cy="8769971"/>
          </a:xfrm>
          <a:prstGeom prst="rect">
            <a:avLst/>
          </a:prstGeom>
        </p:spPr>
      </p:pic>
      <p:sp>
        <p:nvSpPr>
          <p:cNvPr id="6" name="TextBox 3">
            <a:extLst>
              <a:ext uri="{FF2B5EF4-FFF2-40B4-BE49-F238E27FC236}">
                <a16:creationId xmlns:a16="http://schemas.microsoft.com/office/drawing/2014/main" id="{07D11944-5CD6-5E5E-ABDC-7C3C9BB726CD}"/>
              </a:ext>
            </a:extLst>
          </p:cNvPr>
          <p:cNvSpPr txBox="1"/>
          <p:nvPr/>
        </p:nvSpPr>
        <p:spPr>
          <a:xfrm>
            <a:off x="62261" y="252896"/>
            <a:ext cx="4419600" cy="1174129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ctr">
              <a:lnSpc>
                <a:spcPct val="99600"/>
              </a:lnSpc>
              <a:defRPr/>
            </a:pPr>
            <a:r>
              <a:rPr lang="ko-KR" altLang="en-US" sz="53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화면 설계서</a:t>
            </a:r>
            <a:endParaRPr lang="en-US" sz="5300" i="0" u="none" strike="noStrike" dirty="0">
              <a:solidFill>
                <a:srgbClr val="000000"/>
              </a:solidFill>
              <a:latin typeface="전기안전체 Bold" pitchFamily="50" charset="-127"/>
              <a:ea typeface="전기안전체 Bold" pitchFamily="50" charset="-127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"/>
                            </p:stCondLst>
                            <p:childTnLst>
                              <p:par>
                                <p:cTn id="1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"/>
                            </p:stCondLst>
                            <p:childTnLst>
                              <p:par>
                                <p:cTn id="2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838200" y="228600"/>
            <a:ext cx="17221200" cy="95123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8737600" y="2438400"/>
            <a:ext cx="5829300" cy="58293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2286000" y="5353050"/>
            <a:ext cx="14541500" cy="8255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22839"/>
              </a:lnSpc>
              <a:defRPr/>
            </a:pPr>
            <a:r>
              <a:rPr lang="en-US" sz="32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- </a:t>
            </a:r>
            <a:r>
              <a:rPr lang="ko-KR" sz="32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화면</a:t>
            </a:r>
            <a:r>
              <a:rPr lang="en-US" sz="32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32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구성</a:t>
            </a:r>
            <a:endParaRPr lang="en-US" sz="3200" b="0" i="0" u="none" strike="noStrike" spc="-100" dirty="0">
              <a:solidFill>
                <a:srgbClr val="000000"/>
              </a:solidFill>
              <a:latin typeface="전기안전체 Bold" pitchFamily="50" charset="-127"/>
              <a:ea typeface="전기안전체 Bold" pitchFamily="50" charset="-127"/>
            </a:endParaRPr>
          </a:p>
          <a:p>
            <a:pPr lvl="0" algn="l">
              <a:lnSpc>
                <a:spcPct val="122839"/>
              </a:lnSpc>
              <a:defRPr/>
            </a:pPr>
            <a:r>
              <a:rPr lang="en-US" sz="3200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- </a:t>
            </a:r>
            <a:r>
              <a:rPr lang="ko-KR" sz="32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코드</a:t>
            </a:r>
            <a:r>
              <a:rPr lang="en-US" sz="32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32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설명</a:t>
            </a:r>
            <a:r>
              <a:rPr lang="en-US" sz="32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 </a:t>
            </a:r>
          </a:p>
          <a:p>
            <a:pPr lvl="0" algn="l">
              <a:lnSpc>
                <a:spcPct val="122839"/>
              </a:lnSpc>
              <a:defRPr/>
            </a:pPr>
            <a:r>
              <a:rPr lang="en-US" sz="32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 </a:t>
            </a:r>
            <a:r>
              <a:rPr lang="en-US" sz="3200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- </a:t>
            </a:r>
            <a:r>
              <a:rPr lang="ko-KR" altLang="en-US" sz="3200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기</a:t>
            </a:r>
            <a:r>
              <a:rPr lang="ko-KR" sz="32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능</a:t>
            </a:r>
            <a:r>
              <a:rPr lang="en-US" sz="32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32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안내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905000" y="3987800"/>
            <a:ext cx="14630400" cy="10795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06240"/>
              </a:lnSpc>
              <a:defRPr/>
            </a:pPr>
            <a:r>
              <a:rPr lang="en-US" sz="6100" b="0" i="0" u="none" strike="noStrike" spc="-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 </a:t>
            </a:r>
            <a:r>
              <a:rPr lang="ko-KR" sz="6100" b="0" i="0" u="none" strike="noStrike" spc="-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화면</a:t>
            </a:r>
            <a:r>
              <a:rPr lang="en-US" sz="6100" b="0" i="0" u="none" strike="noStrike" spc="-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6100" b="0" i="0" u="none" strike="noStrike" spc="-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설명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914400" y="2647910"/>
            <a:ext cx="7839635" cy="7143790"/>
            <a:chOff x="0" y="2933699"/>
            <a:chExt cx="8610600" cy="7543800"/>
          </a:xfrm>
        </p:grpSpPr>
        <p:pic>
          <p:nvPicPr>
            <p:cNvPr id="5" name="그림 4"/>
            <p:cNvPicPr>
              <a:picLocks noChangeAspect="1"/>
            </p:cNvPicPr>
            <p:nvPr/>
          </p:nvPicPr>
          <p:blipFill rotWithShape="1">
            <a:blip r:embed="rId2"/>
            <a:srcRect l="14580" t="10570" r="16780"/>
            <a:stretch>
              <a:fillRect/>
            </a:stretch>
          </p:blipFill>
          <p:spPr>
            <a:xfrm>
              <a:off x="0" y="3467100"/>
              <a:ext cx="8610600" cy="7010400"/>
            </a:xfrm>
            <a:prstGeom prst="rect">
              <a:avLst/>
            </a:prstGeom>
          </p:spPr>
        </p:pic>
        <p:pic>
          <p:nvPicPr>
            <p:cNvPr id="6" name="그림 5"/>
            <p:cNvPicPr>
              <a:picLocks noChangeAspect="1"/>
            </p:cNvPicPr>
            <p:nvPr/>
          </p:nvPicPr>
          <p:blipFill rotWithShape="1">
            <a:blip r:embed="rId2"/>
            <a:srcRect l="77150" r="2810" b="92220"/>
            <a:stretch>
              <a:fillRect/>
            </a:stretch>
          </p:blipFill>
          <p:spPr>
            <a:xfrm>
              <a:off x="6096000" y="2933700"/>
              <a:ext cx="2514600" cy="609600"/>
            </a:xfrm>
            <a:prstGeom prst="rect">
              <a:avLst/>
            </a:prstGeom>
          </p:spPr>
        </p:pic>
        <p:pic>
          <p:nvPicPr>
            <p:cNvPr id="7" name="그림 6"/>
            <p:cNvPicPr>
              <a:picLocks noChangeAspect="1"/>
            </p:cNvPicPr>
            <p:nvPr/>
          </p:nvPicPr>
          <p:blipFill rotWithShape="1">
            <a:blip r:embed="rId2"/>
            <a:srcRect l="15790" r="63550" b="93320"/>
            <a:stretch>
              <a:fillRect/>
            </a:stretch>
          </p:blipFill>
          <p:spPr>
            <a:xfrm>
              <a:off x="1447799" y="2943225"/>
              <a:ext cx="2590800" cy="523874"/>
            </a:xfrm>
            <a:prstGeom prst="rect">
              <a:avLst/>
            </a:prstGeom>
          </p:spPr>
        </p:pic>
        <p:pic>
          <p:nvPicPr>
            <p:cNvPr id="8" name="그림 7"/>
            <p:cNvPicPr>
              <a:picLocks noChangeAspect="1"/>
            </p:cNvPicPr>
            <p:nvPr/>
          </p:nvPicPr>
          <p:blipFill rotWithShape="1">
            <a:blip r:embed="rId2"/>
            <a:srcRect l="46770" r="44120" b="93320"/>
            <a:stretch>
              <a:fillRect/>
            </a:stretch>
          </p:blipFill>
          <p:spPr>
            <a:xfrm>
              <a:off x="3124200" y="2943225"/>
              <a:ext cx="1142999" cy="523874"/>
            </a:xfrm>
            <a:prstGeom prst="rect">
              <a:avLst/>
            </a:prstGeom>
          </p:spPr>
        </p:pic>
        <p:pic>
          <p:nvPicPr>
            <p:cNvPr id="9" name="그림 8"/>
            <p:cNvPicPr>
              <a:picLocks noChangeAspect="1"/>
            </p:cNvPicPr>
            <p:nvPr/>
          </p:nvPicPr>
          <p:blipFill rotWithShape="1">
            <a:blip r:embed="rId2"/>
            <a:srcRect l="59720" r="25090" b="92220"/>
            <a:stretch>
              <a:fillRect/>
            </a:stretch>
          </p:blipFill>
          <p:spPr>
            <a:xfrm>
              <a:off x="4343400" y="2933699"/>
              <a:ext cx="1905000" cy="609600"/>
            </a:xfrm>
            <a:prstGeom prst="rect">
              <a:avLst/>
            </a:prstGeom>
          </p:spPr>
        </p:pic>
        <p:pic>
          <p:nvPicPr>
            <p:cNvPr id="10" name="그림 9"/>
            <p:cNvPicPr>
              <a:picLocks noChangeAspect="1"/>
            </p:cNvPicPr>
            <p:nvPr/>
          </p:nvPicPr>
          <p:blipFill rotWithShape="1">
            <a:blip r:embed="rId2"/>
            <a:srcRect r="87850" b="93320"/>
            <a:stretch>
              <a:fillRect/>
            </a:stretch>
          </p:blipFill>
          <p:spPr>
            <a:xfrm>
              <a:off x="0" y="2943225"/>
              <a:ext cx="1524000" cy="523874"/>
            </a:xfrm>
            <a:prstGeom prst="rect">
              <a:avLst/>
            </a:prstGeom>
          </p:spPr>
        </p:pic>
      </p:grp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3"/>
          <a:srcRect r="22680" b="3920"/>
          <a:stretch>
            <a:fillRect/>
          </a:stretch>
        </p:blipFill>
        <p:spPr>
          <a:xfrm>
            <a:off x="9041279" y="2646253"/>
            <a:ext cx="9094322" cy="7134770"/>
          </a:xfrm>
          <a:prstGeom prst="rect">
            <a:avLst/>
          </a:prstGeom>
        </p:spPr>
      </p:pic>
      <p:grpSp>
        <p:nvGrpSpPr>
          <p:cNvPr id="16" name="그룹 15"/>
          <p:cNvGrpSpPr/>
          <p:nvPr/>
        </p:nvGrpSpPr>
        <p:grpSpPr>
          <a:xfrm>
            <a:off x="2800696" y="1503360"/>
            <a:ext cx="3581400" cy="685799"/>
            <a:chOff x="2362200" y="876301"/>
            <a:chExt cx="3581400" cy="685799"/>
          </a:xfrm>
        </p:grpSpPr>
        <p:sp>
          <p:nvSpPr>
            <p:cNvPr id="12" name="사각형: 둥근 모서리 11"/>
            <p:cNvSpPr/>
            <p:nvPr/>
          </p:nvSpPr>
          <p:spPr>
            <a:xfrm>
              <a:off x="2514600" y="876301"/>
              <a:ext cx="3200400" cy="685799"/>
            </a:xfrm>
            <a:prstGeom prst="roundRect">
              <a:avLst>
                <a:gd name="adj" fmla="val 27343"/>
              </a:avLst>
            </a:prstGeom>
            <a:solidFill>
              <a:srgbClr val="3CA295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altLang="ko-KR" dirty="0">
                <a:latin typeface="전기안전체 Bold" pitchFamily="50" charset="-127"/>
                <a:ea typeface="전기안전체 Bold" pitchFamily="50" charset="-127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2362200" y="937260"/>
              <a:ext cx="3581400" cy="54864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en-US" altLang="ko-KR" sz="3000" dirty="0">
                  <a:solidFill>
                    <a:schemeClr val="lt1"/>
                  </a:solidFill>
                  <a:latin typeface="전기안전체 Bold" pitchFamily="50" charset="-127"/>
                  <a:ea typeface="전기안전체 Bold" pitchFamily="50" charset="-127"/>
                </a:rPr>
                <a:t>Main Page</a:t>
              </a:r>
            </a:p>
          </p:txBody>
        </p:sp>
      </p:grpSp>
      <p:grpSp>
        <p:nvGrpSpPr>
          <p:cNvPr id="17" name="그룹 16"/>
          <p:cNvGrpSpPr/>
          <p:nvPr/>
        </p:nvGrpSpPr>
        <p:grpSpPr>
          <a:xfrm>
            <a:off x="12344400" y="1485138"/>
            <a:ext cx="3581400" cy="685799"/>
            <a:chOff x="11582400" y="876300"/>
            <a:chExt cx="3581400" cy="685799"/>
          </a:xfrm>
        </p:grpSpPr>
        <p:sp>
          <p:nvSpPr>
            <p:cNvPr id="14" name="사각형: 둥근 모서리 13"/>
            <p:cNvSpPr/>
            <p:nvPr/>
          </p:nvSpPr>
          <p:spPr>
            <a:xfrm>
              <a:off x="11734800" y="876300"/>
              <a:ext cx="3200400" cy="685799"/>
            </a:xfrm>
            <a:prstGeom prst="roundRect">
              <a:avLst>
                <a:gd name="adj" fmla="val 27343"/>
              </a:avLst>
            </a:prstGeom>
            <a:solidFill>
              <a:srgbClr val="1F1F1F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altLang="ko-KR" dirty="0">
                <a:latin typeface="전기안전체 Bold" pitchFamily="50" charset="-127"/>
                <a:ea typeface="전기안전체 Bold" pitchFamily="50" charset="-127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1582400" y="937260"/>
              <a:ext cx="3581400" cy="54864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en-US" altLang="ko-KR" sz="3000" dirty="0">
                  <a:solidFill>
                    <a:schemeClr val="lt1"/>
                  </a:solidFill>
                  <a:latin typeface="전기안전체 Bold" pitchFamily="50" charset="-127"/>
                  <a:ea typeface="전기안전체 Bold" pitchFamily="50" charset="-127"/>
                </a:rPr>
                <a:t>Code</a:t>
              </a:r>
            </a:p>
          </p:txBody>
        </p:sp>
      </p:grpSp>
      <p:sp>
        <p:nvSpPr>
          <p:cNvPr id="18" name="TextBox 3">
            <a:extLst>
              <a:ext uri="{FF2B5EF4-FFF2-40B4-BE49-F238E27FC236}">
                <a16:creationId xmlns:a16="http://schemas.microsoft.com/office/drawing/2014/main" id="{0329366D-45DF-605D-460F-D0227D385CF5}"/>
              </a:ext>
            </a:extLst>
          </p:cNvPr>
          <p:cNvSpPr txBox="1"/>
          <p:nvPr/>
        </p:nvSpPr>
        <p:spPr>
          <a:xfrm>
            <a:off x="914400" y="278874"/>
            <a:ext cx="4483100" cy="9525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99600"/>
              </a:lnSpc>
              <a:defRPr/>
            </a:pPr>
            <a:r>
              <a:rPr lang="ko-KR" altLang="en-US" sz="53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메인 화면 </a:t>
            </a:r>
            <a:endParaRPr lang="ko-KR" sz="5300" b="0" i="0" u="none" strike="noStrike" dirty="0">
              <a:solidFill>
                <a:srgbClr val="000000"/>
              </a:solidFill>
              <a:latin typeface="전기안전체 Bold" pitchFamily="50" charset="-127"/>
              <a:ea typeface="전기안전체 Bold" pitchFamily="50" charset="-127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338666" y="1638300"/>
            <a:ext cx="17610667" cy="7924800"/>
          </a:xfrm>
          <a:prstGeom prst="rect">
            <a:avLst/>
          </a:prstGeom>
        </p:spPr>
      </p:pic>
      <p:sp>
        <p:nvSpPr>
          <p:cNvPr id="3" name="TextBox 3">
            <a:extLst>
              <a:ext uri="{FF2B5EF4-FFF2-40B4-BE49-F238E27FC236}">
                <a16:creationId xmlns:a16="http://schemas.microsoft.com/office/drawing/2014/main" id="{54360FF3-B36F-82A1-EDF8-EEAA6252E04B}"/>
              </a:ext>
            </a:extLst>
          </p:cNvPr>
          <p:cNvSpPr txBox="1"/>
          <p:nvPr/>
        </p:nvSpPr>
        <p:spPr>
          <a:xfrm>
            <a:off x="685800" y="228600"/>
            <a:ext cx="8991600" cy="9525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99600"/>
              </a:lnSpc>
              <a:defRPr/>
            </a:pPr>
            <a:r>
              <a:rPr lang="ko-KR" altLang="en-US" sz="5300" b="0" i="0" u="none" strike="noStrike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추천 시스템 시퀀스 다이어그램</a:t>
            </a:r>
            <a:endParaRPr lang="ko-KR" sz="5300" b="0" i="0" u="none" strike="noStrike" dirty="0">
              <a:solidFill>
                <a:srgbClr val="000000"/>
              </a:solidFill>
              <a:latin typeface="전기안전체 Bold" pitchFamily="50" charset="-127"/>
              <a:ea typeface="전기안전체 Bold" pitchFamily="50" charset="-127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57200" y="2552700"/>
            <a:ext cx="8131712" cy="7136627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3"/>
          <a:srcRect r="24930"/>
          <a:stretch>
            <a:fillRect/>
          </a:stretch>
        </p:blipFill>
        <p:spPr>
          <a:xfrm>
            <a:off x="9167191" y="2552700"/>
            <a:ext cx="8868921" cy="7397921"/>
          </a:xfrm>
          <a:prstGeom prst="rect">
            <a:avLst/>
          </a:prstGeom>
        </p:spPr>
      </p:pic>
      <p:grpSp>
        <p:nvGrpSpPr>
          <p:cNvPr id="9" name="그룹 8"/>
          <p:cNvGrpSpPr/>
          <p:nvPr/>
        </p:nvGrpSpPr>
        <p:grpSpPr>
          <a:xfrm>
            <a:off x="2732356" y="1417320"/>
            <a:ext cx="3581400" cy="685799"/>
            <a:chOff x="2209800" y="571500"/>
            <a:chExt cx="3581400" cy="685799"/>
          </a:xfrm>
        </p:grpSpPr>
        <p:sp>
          <p:nvSpPr>
            <p:cNvPr id="5" name="사각형: 둥근 모서리 4"/>
            <p:cNvSpPr/>
            <p:nvPr/>
          </p:nvSpPr>
          <p:spPr>
            <a:xfrm>
              <a:off x="2209800" y="571500"/>
              <a:ext cx="3505200" cy="685799"/>
            </a:xfrm>
            <a:prstGeom prst="roundRect">
              <a:avLst>
                <a:gd name="adj" fmla="val 27343"/>
              </a:avLst>
            </a:prstGeom>
            <a:solidFill>
              <a:srgbClr val="3CA295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altLang="ko-KR" dirty="0">
                <a:latin typeface="전기안전체 Bold" pitchFamily="50" charset="-127"/>
                <a:ea typeface="전기안전체 Bold" pitchFamily="50" charset="-127"/>
              </a:endParaRP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2209800" y="632460"/>
              <a:ext cx="3581400" cy="54864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en-US" altLang="ko-KR" sz="3000" dirty="0">
                  <a:solidFill>
                    <a:schemeClr val="lt1"/>
                  </a:solidFill>
                  <a:latin typeface="전기안전체 Bold" pitchFamily="50" charset="-127"/>
                  <a:ea typeface="전기안전체 Bold" pitchFamily="50" charset="-127"/>
                </a:rPr>
                <a:t>Recommend Page</a:t>
              </a:r>
            </a:p>
          </p:txBody>
        </p:sp>
      </p:grpSp>
      <p:grpSp>
        <p:nvGrpSpPr>
          <p:cNvPr id="10" name="그룹 9"/>
          <p:cNvGrpSpPr/>
          <p:nvPr/>
        </p:nvGrpSpPr>
        <p:grpSpPr>
          <a:xfrm>
            <a:off x="12088721" y="1356360"/>
            <a:ext cx="3581400" cy="685799"/>
            <a:chOff x="11049000" y="571500"/>
            <a:chExt cx="3581400" cy="685799"/>
          </a:xfrm>
        </p:grpSpPr>
        <p:sp>
          <p:nvSpPr>
            <p:cNvPr id="7" name="사각형: 둥근 모서리 6"/>
            <p:cNvSpPr/>
            <p:nvPr/>
          </p:nvSpPr>
          <p:spPr>
            <a:xfrm>
              <a:off x="11201400" y="571500"/>
              <a:ext cx="3200400" cy="685799"/>
            </a:xfrm>
            <a:prstGeom prst="roundRect">
              <a:avLst>
                <a:gd name="adj" fmla="val 27343"/>
              </a:avLst>
            </a:prstGeom>
            <a:solidFill>
              <a:srgbClr val="1F1F1F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altLang="ko-KR" dirty="0">
                <a:latin typeface="전기안전체 Bold" pitchFamily="50" charset="-127"/>
                <a:ea typeface="전기안전체 Bold" pitchFamily="50" charset="-127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1049000" y="632460"/>
              <a:ext cx="3581400" cy="54864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en-US" altLang="ko-KR" sz="3000" dirty="0">
                  <a:solidFill>
                    <a:schemeClr val="lt1"/>
                  </a:solidFill>
                  <a:latin typeface="전기안전체 Bold" pitchFamily="50" charset="-127"/>
                  <a:ea typeface="전기안전체 Bold" pitchFamily="50" charset="-127"/>
                </a:rPr>
                <a:t>Code</a:t>
              </a:r>
            </a:p>
          </p:txBody>
        </p:sp>
      </p:grpSp>
      <p:sp>
        <p:nvSpPr>
          <p:cNvPr id="2" name="TextBox 3">
            <a:extLst>
              <a:ext uri="{FF2B5EF4-FFF2-40B4-BE49-F238E27FC236}">
                <a16:creationId xmlns:a16="http://schemas.microsoft.com/office/drawing/2014/main" id="{657A82D7-960E-781E-75DD-38CC82099EBA}"/>
              </a:ext>
            </a:extLst>
          </p:cNvPr>
          <p:cNvSpPr txBox="1"/>
          <p:nvPr/>
        </p:nvSpPr>
        <p:spPr>
          <a:xfrm>
            <a:off x="685800" y="228600"/>
            <a:ext cx="6324600" cy="9525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99600"/>
              </a:lnSpc>
              <a:defRPr/>
            </a:pPr>
            <a:r>
              <a:rPr lang="ko-KR" altLang="en-US" sz="53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상품 </a:t>
            </a:r>
            <a:r>
              <a:rPr lang="ko-KR" altLang="en-US" sz="5300" b="0" i="0" u="none" strike="noStrike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추천</a:t>
            </a:r>
            <a:endParaRPr lang="ko-KR" sz="5300" b="0" i="0" u="none" strike="noStrike" dirty="0">
              <a:solidFill>
                <a:srgbClr val="000000"/>
              </a:solidFill>
              <a:latin typeface="전기안전체 Bold" pitchFamily="50" charset="-127"/>
              <a:ea typeface="전기안전체 Bold" pitchFamily="50" charset="-127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2"/>
          <a:srcRect r="17470"/>
          <a:stretch>
            <a:fillRect/>
          </a:stretch>
        </p:blipFill>
        <p:spPr>
          <a:xfrm>
            <a:off x="8991600" y="2839888"/>
            <a:ext cx="9220200" cy="6967231"/>
          </a:xfrm>
          <a:prstGeom prst="rect">
            <a:avLst/>
          </a:prstGeom>
        </p:spPr>
      </p:pic>
      <p:grpSp>
        <p:nvGrpSpPr>
          <p:cNvPr id="9" name="그룹 8"/>
          <p:cNvGrpSpPr/>
          <p:nvPr/>
        </p:nvGrpSpPr>
        <p:grpSpPr>
          <a:xfrm>
            <a:off x="2731583" y="1485900"/>
            <a:ext cx="3581400" cy="685799"/>
            <a:chOff x="2514599" y="723900"/>
            <a:chExt cx="3581400" cy="685799"/>
          </a:xfrm>
        </p:grpSpPr>
        <p:sp>
          <p:nvSpPr>
            <p:cNvPr id="5" name="사각형: 둥근 모서리 4"/>
            <p:cNvSpPr/>
            <p:nvPr/>
          </p:nvSpPr>
          <p:spPr>
            <a:xfrm>
              <a:off x="2666999" y="723900"/>
              <a:ext cx="3200400" cy="685799"/>
            </a:xfrm>
            <a:prstGeom prst="roundRect">
              <a:avLst>
                <a:gd name="adj" fmla="val 27343"/>
              </a:avLst>
            </a:prstGeom>
            <a:solidFill>
              <a:srgbClr val="3CA295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altLang="ko-KR" dirty="0">
                <a:latin typeface="전기안전체 Bold" pitchFamily="50" charset="-127"/>
                <a:ea typeface="전기안전체 Bold" pitchFamily="50" charset="-127"/>
              </a:endParaRP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2514599" y="784860"/>
              <a:ext cx="3581400" cy="54864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en-US" altLang="ko-KR" sz="3000" dirty="0">
                  <a:solidFill>
                    <a:schemeClr val="lt1"/>
                  </a:solidFill>
                  <a:latin typeface="전기안전체 Bold" pitchFamily="50" charset="-127"/>
                  <a:ea typeface="전기안전체 Bold" pitchFamily="50" charset="-127"/>
                </a:rPr>
                <a:t>Detail Page</a:t>
              </a:r>
            </a:p>
          </p:txBody>
        </p:sp>
      </p:grpSp>
      <p:grpSp>
        <p:nvGrpSpPr>
          <p:cNvPr id="10" name="그룹 9"/>
          <p:cNvGrpSpPr/>
          <p:nvPr/>
        </p:nvGrpSpPr>
        <p:grpSpPr>
          <a:xfrm>
            <a:off x="11809365" y="1478280"/>
            <a:ext cx="3581400" cy="685799"/>
            <a:chOff x="11353798" y="723900"/>
            <a:chExt cx="3581400" cy="685799"/>
          </a:xfrm>
        </p:grpSpPr>
        <p:sp>
          <p:nvSpPr>
            <p:cNvPr id="7" name="사각형: 둥근 모서리 6"/>
            <p:cNvSpPr/>
            <p:nvPr/>
          </p:nvSpPr>
          <p:spPr>
            <a:xfrm>
              <a:off x="11506198" y="723900"/>
              <a:ext cx="3200400" cy="685799"/>
            </a:xfrm>
            <a:prstGeom prst="roundRect">
              <a:avLst>
                <a:gd name="adj" fmla="val 27343"/>
              </a:avLst>
            </a:prstGeom>
            <a:solidFill>
              <a:srgbClr val="1F1F1F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altLang="ko-KR" dirty="0">
                <a:latin typeface="전기안전체 Bold" pitchFamily="50" charset="-127"/>
                <a:ea typeface="전기안전체 Bold" pitchFamily="50" charset="-127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1353798" y="784860"/>
              <a:ext cx="3581400" cy="54864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en-US" altLang="ko-KR" sz="3000" dirty="0">
                  <a:solidFill>
                    <a:schemeClr val="lt1"/>
                  </a:solidFill>
                  <a:latin typeface="전기안전체 Bold" pitchFamily="50" charset="-127"/>
                  <a:ea typeface="전기안전체 Bold" pitchFamily="50" charset="-127"/>
                </a:rPr>
                <a:t>Code</a:t>
              </a:r>
            </a:p>
          </p:txBody>
        </p:sp>
      </p:grpSp>
      <p:sp>
        <p:nvSpPr>
          <p:cNvPr id="2" name="TextBox 3">
            <a:extLst>
              <a:ext uri="{FF2B5EF4-FFF2-40B4-BE49-F238E27FC236}">
                <a16:creationId xmlns:a16="http://schemas.microsoft.com/office/drawing/2014/main" id="{223102F9-B817-0BAE-4DFB-F9E14A2426F1}"/>
              </a:ext>
            </a:extLst>
          </p:cNvPr>
          <p:cNvSpPr txBox="1"/>
          <p:nvPr/>
        </p:nvSpPr>
        <p:spPr>
          <a:xfrm>
            <a:off x="685800" y="228600"/>
            <a:ext cx="6324600" cy="9525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99600"/>
              </a:lnSpc>
              <a:defRPr/>
            </a:pPr>
            <a:r>
              <a:rPr lang="ko-KR" altLang="en-US" sz="5300" b="0" i="0" u="none" strike="noStrike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검색 결과</a:t>
            </a:r>
            <a:endParaRPr lang="ko-KR" sz="5300" b="0" i="0" u="none" strike="noStrike" dirty="0">
              <a:solidFill>
                <a:srgbClr val="000000"/>
              </a:solidFill>
              <a:latin typeface="전기안전체 Bold" pitchFamily="50" charset="-127"/>
              <a:ea typeface="전기안전체 Bold" pitchFamily="50" charset="-127"/>
            </a:endParaRPr>
          </a:p>
        </p:txBody>
      </p:sp>
      <p:pic>
        <p:nvPicPr>
          <p:cNvPr id="12" name="그림 11" descr="텍스트, 전자제품, 스크린샷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82B0E421-FF95-8C10-972F-C8ADAE85EB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966" y="2848171"/>
            <a:ext cx="8176634" cy="70680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685800" y="1409700"/>
            <a:ext cx="17373600" cy="8107680"/>
          </a:xfrm>
          <a:prstGeom prst="rect">
            <a:avLst/>
          </a:prstGeom>
        </p:spPr>
      </p:pic>
      <p:sp>
        <p:nvSpPr>
          <p:cNvPr id="3" name="TextBox 3">
            <a:extLst>
              <a:ext uri="{FF2B5EF4-FFF2-40B4-BE49-F238E27FC236}">
                <a16:creationId xmlns:a16="http://schemas.microsoft.com/office/drawing/2014/main" id="{48E8F7AF-2C59-A1EB-BDA5-65FB829B13CA}"/>
              </a:ext>
            </a:extLst>
          </p:cNvPr>
          <p:cNvSpPr txBox="1"/>
          <p:nvPr/>
        </p:nvSpPr>
        <p:spPr>
          <a:xfrm>
            <a:off x="609600" y="266700"/>
            <a:ext cx="7467600" cy="9525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99600"/>
              </a:lnSpc>
              <a:defRPr/>
            </a:pPr>
            <a:r>
              <a:rPr lang="ko-KR" altLang="en-US" sz="53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로그인 시스템  다이어그램 </a:t>
            </a:r>
            <a:endParaRPr lang="ko-KR" sz="5300" b="0" i="0" u="none" strike="noStrike" dirty="0">
              <a:solidFill>
                <a:srgbClr val="000000"/>
              </a:solidFill>
              <a:latin typeface="전기안전체 Bold" pitchFamily="50" charset="-127"/>
              <a:ea typeface="전기안전체 Bold" pitchFamily="50" charset="-127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사각형: 둥근 모서리 12"/>
          <p:cNvSpPr/>
          <p:nvPr/>
        </p:nvSpPr>
        <p:spPr>
          <a:xfrm>
            <a:off x="2705100" y="1606715"/>
            <a:ext cx="3200400" cy="685799"/>
          </a:xfrm>
          <a:prstGeom prst="roundRect">
            <a:avLst>
              <a:gd name="adj" fmla="val 27343"/>
            </a:avLst>
          </a:prstGeom>
          <a:solidFill>
            <a:srgbClr val="3CA295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altLang="ko-KR" dirty="0">
              <a:latin typeface="전기안전체 Bold" pitchFamily="50" charset="-127"/>
              <a:ea typeface="전기안전체 Bold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514600" y="1675294"/>
            <a:ext cx="3581400" cy="5486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ko-KR" sz="3000" dirty="0">
                <a:solidFill>
                  <a:schemeClr val="lt1"/>
                </a:solidFill>
                <a:latin typeface="전기안전체 Bold" pitchFamily="50" charset="-127"/>
                <a:ea typeface="전기안전체 Bold" pitchFamily="50" charset="-127"/>
              </a:rPr>
              <a:t>Login Page</a:t>
            </a:r>
          </a:p>
        </p:txBody>
      </p:sp>
      <p:sp>
        <p:nvSpPr>
          <p:cNvPr id="14" name="사각형: 둥근 모서리 13"/>
          <p:cNvSpPr/>
          <p:nvPr/>
        </p:nvSpPr>
        <p:spPr>
          <a:xfrm>
            <a:off x="11887200" y="1606715"/>
            <a:ext cx="3200400" cy="685799"/>
          </a:xfrm>
          <a:prstGeom prst="roundRect">
            <a:avLst>
              <a:gd name="adj" fmla="val 27343"/>
            </a:avLst>
          </a:prstGeom>
          <a:solidFill>
            <a:srgbClr val="1F1F1F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altLang="ko-KR" dirty="0">
              <a:latin typeface="전기안전체 Bold" pitchFamily="50" charset="-127"/>
              <a:ea typeface="전기안전체 Bold" pitchFamily="50" charset="-12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1696700" y="1675294"/>
            <a:ext cx="3581400" cy="5486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ko-KR" sz="3000" dirty="0">
                <a:solidFill>
                  <a:schemeClr val="lt1"/>
                </a:solidFill>
                <a:latin typeface="전기안전체 Bold" pitchFamily="50" charset="-127"/>
                <a:ea typeface="전기안전체 Bold" pitchFamily="50" charset="-127"/>
              </a:rPr>
              <a:t>Code</a:t>
            </a:r>
          </a:p>
        </p:txBody>
      </p:sp>
      <p:sp>
        <p:nvSpPr>
          <p:cNvPr id="2" name="TextBox 3">
            <a:extLst>
              <a:ext uri="{FF2B5EF4-FFF2-40B4-BE49-F238E27FC236}">
                <a16:creationId xmlns:a16="http://schemas.microsoft.com/office/drawing/2014/main" id="{EAB383C7-BAEF-2179-7583-EED807B2131E}"/>
              </a:ext>
            </a:extLst>
          </p:cNvPr>
          <p:cNvSpPr txBox="1"/>
          <p:nvPr/>
        </p:nvSpPr>
        <p:spPr>
          <a:xfrm>
            <a:off x="685800" y="228600"/>
            <a:ext cx="6324600" cy="9525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99600"/>
              </a:lnSpc>
              <a:defRPr/>
            </a:pPr>
            <a:r>
              <a:rPr lang="ko-KR" altLang="en-US" sz="5300" b="0" i="0" u="none" strike="noStrike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로그인</a:t>
            </a:r>
            <a:endParaRPr lang="ko-KR" sz="5300" b="0" i="0" u="none" strike="noStrike" dirty="0">
              <a:solidFill>
                <a:srgbClr val="000000"/>
              </a:solidFill>
              <a:latin typeface="전기안전체 Bold" pitchFamily="50" charset="-127"/>
              <a:ea typeface="전기안전체 Bold" pitchFamily="50" charset="-127"/>
            </a:endParaRPr>
          </a:p>
        </p:txBody>
      </p:sp>
      <p:pic>
        <p:nvPicPr>
          <p:cNvPr id="4" name="그림 3" descr="텍스트, 스크린샷, 폰트, 번호이(가) 표시된 사진">
            <a:extLst>
              <a:ext uri="{FF2B5EF4-FFF2-40B4-BE49-F238E27FC236}">
                <a16:creationId xmlns:a16="http://schemas.microsoft.com/office/drawing/2014/main" id="{974BA03E-92B3-F688-F265-92124B34E3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2673576"/>
            <a:ext cx="6629400" cy="7291043"/>
          </a:xfrm>
          <a:prstGeom prst="rect">
            <a:avLst/>
          </a:prstGeom>
        </p:spPr>
      </p:pic>
      <p:pic>
        <p:nvPicPr>
          <p:cNvPr id="7" name="그림 6" descr="텍스트, 스크린샷, 소프트웨어, 운영 체제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B692E077-7B8E-A9BA-51C9-7395E9F4FE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3400" y="2673576"/>
            <a:ext cx="10023749" cy="684041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2"/>
          <a:srcRect r="4330"/>
          <a:stretch>
            <a:fillRect/>
          </a:stretch>
        </p:blipFill>
        <p:spPr>
          <a:xfrm>
            <a:off x="7162800" y="2835703"/>
            <a:ext cx="10591800" cy="7189585"/>
          </a:xfrm>
          <a:prstGeom prst="rect">
            <a:avLst/>
          </a:prstGeom>
        </p:spPr>
      </p:pic>
      <p:sp>
        <p:nvSpPr>
          <p:cNvPr id="4" name="사각형: 둥근 모서리 3"/>
          <p:cNvSpPr/>
          <p:nvPr/>
        </p:nvSpPr>
        <p:spPr>
          <a:xfrm>
            <a:off x="2362200" y="1638300"/>
            <a:ext cx="3200400" cy="685799"/>
          </a:xfrm>
          <a:prstGeom prst="roundRect">
            <a:avLst>
              <a:gd name="adj" fmla="val 27343"/>
            </a:avLst>
          </a:prstGeom>
          <a:solidFill>
            <a:srgbClr val="3CA295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altLang="ko-KR" dirty="0">
              <a:latin typeface="전기안전체 Bold" pitchFamily="50" charset="-127"/>
              <a:ea typeface="전기안전체 Bold" pitchFamily="50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09801" y="1699260"/>
            <a:ext cx="3581400" cy="5486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ko-KR" sz="3000" dirty="0" err="1">
                <a:solidFill>
                  <a:schemeClr val="lt1"/>
                </a:solidFill>
                <a:latin typeface="전기안전체 Bold" pitchFamily="50" charset="-127"/>
                <a:ea typeface="전기안전체 Bold" pitchFamily="50" charset="-127"/>
              </a:rPr>
              <a:t>SignUp</a:t>
            </a:r>
            <a:r>
              <a:rPr lang="en-US" altLang="ko-KR" sz="3000" dirty="0">
                <a:solidFill>
                  <a:schemeClr val="lt1"/>
                </a:solidFill>
                <a:latin typeface="전기안전체 Bold" pitchFamily="50" charset="-127"/>
                <a:ea typeface="전기안전체 Bold" pitchFamily="50" charset="-127"/>
              </a:rPr>
              <a:t> Page</a:t>
            </a:r>
          </a:p>
        </p:txBody>
      </p:sp>
      <p:sp>
        <p:nvSpPr>
          <p:cNvPr id="6" name="사각형: 둥근 모서리 5"/>
          <p:cNvSpPr/>
          <p:nvPr/>
        </p:nvSpPr>
        <p:spPr>
          <a:xfrm>
            <a:off x="11125200" y="1638300"/>
            <a:ext cx="3200400" cy="685799"/>
          </a:xfrm>
          <a:prstGeom prst="roundRect">
            <a:avLst>
              <a:gd name="adj" fmla="val 27343"/>
            </a:avLst>
          </a:prstGeom>
          <a:solidFill>
            <a:srgbClr val="1F1F1F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altLang="ko-KR">
              <a:latin typeface="전기안전체 Bold" pitchFamily="50" charset="-127"/>
              <a:ea typeface="전기안전체 Bold" pitchFamily="50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34700" y="1706879"/>
            <a:ext cx="3581400" cy="5486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ko-KR" sz="3000" dirty="0">
                <a:solidFill>
                  <a:schemeClr val="lt1"/>
                </a:solidFill>
                <a:latin typeface="전기안전체 Bold" pitchFamily="50" charset="-127"/>
                <a:ea typeface="전기안전체 Bold" pitchFamily="50" charset="-127"/>
              </a:rPr>
              <a:t>Code</a:t>
            </a:r>
          </a:p>
        </p:txBody>
      </p:sp>
      <p:sp>
        <p:nvSpPr>
          <p:cNvPr id="8" name="TextBox 3">
            <a:extLst>
              <a:ext uri="{FF2B5EF4-FFF2-40B4-BE49-F238E27FC236}">
                <a16:creationId xmlns:a16="http://schemas.microsoft.com/office/drawing/2014/main" id="{2416D6E9-A278-3E96-9004-0FF4218F1A3B}"/>
              </a:ext>
            </a:extLst>
          </p:cNvPr>
          <p:cNvSpPr txBox="1"/>
          <p:nvPr/>
        </p:nvSpPr>
        <p:spPr>
          <a:xfrm>
            <a:off x="685800" y="228600"/>
            <a:ext cx="6324600" cy="9525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99600"/>
              </a:lnSpc>
              <a:defRPr/>
            </a:pPr>
            <a:r>
              <a:rPr lang="ko-KR" altLang="en-US" sz="53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회원 가입</a:t>
            </a:r>
            <a:endParaRPr lang="ko-KR" sz="5300" b="0" i="0" u="none" strike="noStrike" dirty="0">
              <a:solidFill>
                <a:srgbClr val="000000"/>
              </a:solidFill>
              <a:latin typeface="전기안전체 Bold" pitchFamily="50" charset="-127"/>
              <a:ea typeface="전기안전체 Bold" pitchFamily="50" charset="-127"/>
            </a:endParaRPr>
          </a:p>
        </p:txBody>
      </p:sp>
      <p:pic>
        <p:nvPicPr>
          <p:cNvPr id="10" name="그림 9" descr="텍스트, 스크린샷, 번호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157F4343-D1EF-040B-7A4C-432C71A614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7400" y="2835703"/>
            <a:ext cx="3886201" cy="745129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513456"/>
            <a:ext cx="18288000" cy="9260087"/>
          </a:xfrm>
          <a:prstGeom prst="rect">
            <a:avLst/>
          </a:prstGeom>
        </p:spPr>
      </p:pic>
      <p:sp>
        <p:nvSpPr>
          <p:cNvPr id="3" name="TextBox 3">
            <a:extLst>
              <a:ext uri="{FF2B5EF4-FFF2-40B4-BE49-F238E27FC236}">
                <a16:creationId xmlns:a16="http://schemas.microsoft.com/office/drawing/2014/main" id="{9EA45CF5-07D3-41ED-40E9-0DE16B819AB5}"/>
              </a:ext>
            </a:extLst>
          </p:cNvPr>
          <p:cNvSpPr txBox="1"/>
          <p:nvPr/>
        </p:nvSpPr>
        <p:spPr>
          <a:xfrm>
            <a:off x="685800" y="228600"/>
            <a:ext cx="6324600" cy="9525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99600"/>
              </a:lnSpc>
              <a:defRPr/>
            </a:pPr>
            <a:r>
              <a:rPr lang="ko-KR" altLang="en-US" sz="5300" b="0" i="0" u="none" strike="noStrike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스케쥴 플로우 차트</a:t>
            </a:r>
            <a:endParaRPr lang="ko-KR" sz="5300" b="0" i="0" u="none" strike="noStrike" dirty="0">
              <a:solidFill>
                <a:srgbClr val="000000"/>
              </a:solidFill>
              <a:latin typeface="전기안전체 Bold" pitchFamily="50" charset="-127"/>
              <a:ea typeface="전기안전체 Bold" pitchFamily="50" charset="-127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2"/>
          <a:srcRect r="17500"/>
          <a:stretch>
            <a:fillRect/>
          </a:stretch>
        </p:blipFill>
        <p:spPr>
          <a:xfrm>
            <a:off x="10058400" y="2655943"/>
            <a:ext cx="8077200" cy="7326257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04800" y="2655943"/>
            <a:ext cx="9250087" cy="7326257"/>
          </a:xfrm>
          <a:prstGeom prst="rect">
            <a:avLst/>
          </a:prstGeom>
        </p:spPr>
      </p:pic>
      <p:grpSp>
        <p:nvGrpSpPr>
          <p:cNvPr id="10" name="그룹 9"/>
          <p:cNvGrpSpPr/>
          <p:nvPr/>
        </p:nvGrpSpPr>
        <p:grpSpPr>
          <a:xfrm>
            <a:off x="3139143" y="1441173"/>
            <a:ext cx="3581400" cy="685799"/>
            <a:chOff x="3276600" y="723900"/>
            <a:chExt cx="3581400" cy="685799"/>
          </a:xfrm>
        </p:grpSpPr>
        <p:sp>
          <p:nvSpPr>
            <p:cNvPr id="6" name="사각형: 둥근 모서리 5"/>
            <p:cNvSpPr/>
            <p:nvPr/>
          </p:nvSpPr>
          <p:spPr>
            <a:xfrm>
              <a:off x="3429000" y="723900"/>
              <a:ext cx="3200400" cy="685799"/>
            </a:xfrm>
            <a:prstGeom prst="roundRect">
              <a:avLst>
                <a:gd name="adj" fmla="val 27343"/>
              </a:avLst>
            </a:prstGeom>
            <a:solidFill>
              <a:srgbClr val="3CA295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altLang="ko-KR">
                <a:latin typeface="전기안전체 Bold" pitchFamily="50" charset="-127"/>
                <a:ea typeface="전기안전체 Bold" pitchFamily="50" charset="-127"/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3276600" y="784860"/>
              <a:ext cx="3581400" cy="54864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en-US" altLang="ko-KR" sz="3000" dirty="0">
                  <a:solidFill>
                    <a:schemeClr val="lt1"/>
                  </a:solidFill>
                  <a:latin typeface="전기안전체 Bold" pitchFamily="50" charset="-127"/>
                  <a:ea typeface="전기안전체 Bold" pitchFamily="50" charset="-127"/>
                </a:rPr>
                <a:t>Schedule Page</a:t>
              </a:r>
            </a:p>
          </p:txBody>
        </p:sp>
      </p:grpSp>
      <p:grpSp>
        <p:nvGrpSpPr>
          <p:cNvPr id="11" name="그룹 10"/>
          <p:cNvGrpSpPr/>
          <p:nvPr/>
        </p:nvGrpSpPr>
        <p:grpSpPr>
          <a:xfrm>
            <a:off x="12496800" y="1409699"/>
            <a:ext cx="3581400" cy="685799"/>
            <a:chOff x="12115800" y="723900"/>
            <a:chExt cx="3581400" cy="685799"/>
          </a:xfrm>
        </p:grpSpPr>
        <p:sp>
          <p:nvSpPr>
            <p:cNvPr id="8" name="사각형: 둥근 모서리 7"/>
            <p:cNvSpPr/>
            <p:nvPr/>
          </p:nvSpPr>
          <p:spPr>
            <a:xfrm>
              <a:off x="12268200" y="723900"/>
              <a:ext cx="3200400" cy="685799"/>
            </a:xfrm>
            <a:prstGeom prst="roundRect">
              <a:avLst>
                <a:gd name="adj" fmla="val 27343"/>
              </a:avLst>
            </a:prstGeom>
            <a:solidFill>
              <a:srgbClr val="1F1F1F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altLang="ko-KR">
                <a:latin typeface="전기안전체 Bold" pitchFamily="50" charset="-127"/>
                <a:ea typeface="전기안전체 Bold" pitchFamily="50" charset="-127"/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2115800" y="784860"/>
              <a:ext cx="3581400" cy="54864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en-US" altLang="ko-KR" sz="3000" dirty="0">
                  <a:solidFill>
                    <a:schemeClr val="lt1"/>
                  </a:solidFill>
                  <a:latin typeface="전기안전체 Bold" pitchFamily="50" charset="-127"/>
                  <a:ea typeface="전기안전체 Bold" pitchFamily="50" charset="-127"/>
                </a:rPr>
                <a:t>Code</a:t>
              </a:r>
            </a:p>
          </p:txBody>
        </p:sp>
      </p:grpSp>
      <p:sp>
        <p:nvSpPr>
          <p:cNvPr id="2" name="TextBox 3">
            <a:extLst>
              <a:ext uri="{FF2B5EF4-FFF2-40B4-BE49-F238E27FC236}">
                <a16:creationId xmlns:a16="http://schemas.microsoft.com/office/drawing/2014/main" id="{5B540256-65CC-A185-E50B-1CA2AE3F2CE6}"/>
              </a:ext>
            </a:extLst>
          </p:cNvPr>
          <p:cNvSpPr txBox="1"/>
          <p:nvPr/>
        </p:nvSpPr>
        <p:spPr>
          <a:xfrm>
            <a:off x="685800" y="228600"/>
            <a:ext cx="6324600" cy="9525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99600"/>
              </a:lnSpc>
              <a:defRPr/>
            </a:pPr>
            <a:r>
              <a:rPr lang="ko-KR" altLang="en-US" sz="5300" b="0" i="0" u="none" strike="noStrike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스케쥴 </a:t>
            </a:r>
            <a:endParaRPr lang="ko-KR" sz="5300" b="0" i="0" u="none" strike="noStrike" dirty="0">
              <a:solidFill>
                <a:srgbClr val="000000"/>
              </a:solidFill>
              <a:latin typeface="전기안전체 Bold" pitchFamily="50" charset="-127"/>
              <a:ea typeface="전기안전체 Bold" pitchFamily="50" charset="-127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371600" y="1325217"/>
            <a:ext cx="15240000" cy="8724900"/>
          </a:xfrm>
          <a:prstGeom prst="rect">
            <a:avLst/>
          </a:prstGeom>
        </p:spPr>
      </p:pic>
      <p:sp>
        <p:nvSpPr>
          <p:cNvPr id="2" name="TextBox 3">
            <a:extLst>
              <a:ext uri="{FF2B5EF4-FFF2-40B4-BE49-F238E27FC236}">
                <a16:creationId xmlns:a16="http://schemas.microsoft.com/office/drawing/2014/main" id="{3931B3BC-E6BD-6AB6-D5D7-793218CDF428}"/>
              </a:ext>
            </a:extLst>
          </p:cNvPr>
          <p:cNvSpPr txBox="1"/>
          <p:nvPr/>
        </p:nvSpPr>
        <p:spPr>
          <a:xfrm>
            <a:off x="685800" y="228600"/>
            <a:ext cx="7924800" cy="9525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99600"/>
              </a:lnSpc>
              <a:defRPr/>
            </a:pPr>
            <a:r>
              <a:rPr lang="ko-KR" altLang="en-US" sz="53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공지사항 </a:t>
            </a:r>
            <a:r>
              <a:rPr lang="ko-KR" altLang="en-US" sz="5300" b="0" i="0" u="none" strike="noStrike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시스템 다이어그램</a:t>
            </a:r>
            <a:endParaRPr lang="ko-KR" sz="5300" b="0" i="0" u="none" strike="noStrike" dirty="0">
              <a:solidFill>
                <a:srgbClr val="000000"/>
              </a:solidFill>
              <a:latin typeface="전기안전체 Bold" pitchFamily="50" charset="-127"/>
              <a:ea typeface="전기안전체 Bold" pitchFamily="50" charset="-127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rcRect t="11360" b="6170"/>
          <a:stretch>
            <a:fillRect/>
          </a:stretch>
        </p:blipFill>
        <p:spPr>
          <a:xfrm>
            <a:off x="5074402" y="1181100"/>
            <a:ext cx="12718360" cy="5799225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2"/>
          <a:srcRect t="79010" b="6170"/>
          <a:stretch>
            <a:fillRect/>
          </a:stretch>
        </p:blipFill>
        <p:spPr>
          <a:xfrm>
            <a:off x="5074402" y="4849992"/>
            <a:ext cx="12718360" cy="1080584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2"/>
          <a:srcRect l="87920" t="83950" b="6170"/>
          <a:stretch>
            <a:fillRect/>
          </a:stretch>
        </p:blipFill>
        <p:spPr>
          <a:xfrm>
            <a:off x="16192562" y="4799423"/>
            <a:ext cx="1600200" cy="762000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3"/>
          <a:srcRect t="2800"/>
          <a:stretch>
            <a:fillRect/>
          </a:stretch>
        </p:blipFill>
        <p:spPr>
          <a:xfrm>
            <a:off x="5074402" y="5510853"/>
            <a:ext cx="12603998" cy="4776147"/>
          </a:xfrm>
          <a:prstGeom prst="rect">
            <a:avLst/>
          </a:prstGeom>
        </p:spPr>
      </p:pic>
      <p:grpSp>
        <p:nvGrpSpPr>
          <p:cNvPr id="11" name="그룹 10"/>
          <p:cNvGrpSpPr/>
          <p:nvPr/>
        </p:nvGrpSpPr>
        <p:grpSpPr>
          <a:xfrm>
            <a:off x="533400" y="2171700"/>
            <a:ext cx="3581400" cy="685799"/>
            <a:chOff x="533400" y="2171700"/>
            <a:chExt cx="3581400" cy="685799"/>
          </a:xfrm>
        </p:grpSpPr>
        <p:sp>
          <p:nvSpPr>
            <p:cNvPr id="7" name="사각형: 둥근 모서리 6"/>
            <p:cNvSpPr/>
            <p:nvPr/>
          </p:nvSpPr>
          <p:spPr>
            <a:xfrm>
              <a:off x="533400" y="2171700"/>
              <a:ext cx="3505200" cy="685799"/>
            </a:xfrm>
            <a:prstGeom prst="roundRect">
              <a:avLst>
                <a:gd name="adj" fmla="val 27343"/>
              </a:avLst>
            </a:prstGeom>
            <a:solidFill>
              <a:srgbClr val="3CA295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altLang="ko-KR">
                <a:latin typeface="전기안전체 Bold" pitchFamily="50" charset="-127"/>
                <a:ea typeface="전기안전체 Bold" pitchFamily="50" charset="-127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533400" y="2232660"/>
              <a:ext cx="3581400" cy="54864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en-US" altLang="ko-KR" sz="3000">
                  <a:solidFill>
                    <a:schemeClr val="lt1"/>
                  </a:solidFill>
                  <a:latin typeface="전기안전체 Bold" pitchFamily="50" charset="-127"/>
                  <a:ea typeface="전기안전체 Bold" pitchFamily="50" charset="-127"/>
                </a:rPr>
                <a:t>Review Page</a:t>
              </a:r>
            </a:p>
          </p:txBody>
        </p:sp>
      </p:grpSp>
      <p:grpSp>
        <p:nvGrpSpPr>
          <p:cNvPr id="12" name="그룹 11"/>
          <p:cNvGrpSpPr/>
          <p:nvPr/>
        </p:nvGrpSpPr>
        <p:grpSpPr>
          <a:xfrm>
            <a:off x="731002" y="7772400"/>
            <a:ext cx="3581400" cy="685799"/>
            <a:chOff x="533400" y="7048500"/>
            <a:chExt cx="3581400" cy="685799"/>
          </a:xfrm>
        </p:grpSpPr>
        <p:sp>
          <p:nvSpPr>
            <p:cNvPr id="9" name="사각형: 둥근 모서리 8"/>
            <p:cNvSpPr/>
            <p:nvPr/>
          </p:nvSpPr>
          <p:spPr>
            <a:xfrm>
              <a:off x="685800" y="7048500"/>
              <a:ext cx="3200400" cy="685799"/>
            </a:xfrm>
            <a:prstGeom prst="roundRect">
              <a:avLst>
                <a:gd name="adj" fmla="val 27343"/>
              </a:avLst>
            </a:prstGeom>
            <a:solidFill>
              <a:srgbClr val="1F1F1F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altLang="ko-KR">
                <a:latin typeface="전기안전체 Bold" pitchFamily="50" charset="-127"/>
                <a:ea typeface="전기안전체 Bold" pitchFamily="50" charset="-127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33400" y="7109460"/>
              <a:ext cx="3581400" cy="54864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en-US" altLang="ko-KR" sz="3000">
                  <a:solidFill>
                    <a:schemeClr val="lt1"/>
                  </a:solidFill>
                  <a:latin typeface="전기안전체 Bold" pitchFamily="50" charset="-127"/>
                  <a:ea typeface="전기안전체 Bold" pitchFamily="50" charset="-127"/>
                </a:rPr>
                <a:t>Code</a:t>
              </a:r>
            </a:p>
          </p:txBody>
        </p:sp>
      </p:grpSp>
      <p:sp>
        <p:nvSpPr>
          <p:cNvPr id="3" name="TextBox 3">
            <a:extLst>
              <a:ext uri="{FF2B5EF4-FFF2-40B4-BE49-F238E27FC236}">
                <a16:creationId xmlns:a16="http://schemas.microsoft.com/office/drawing/2014/main" id="{8EE34D93-9578-BB04-C9F7-FB625BF88546}"/>
              </a:ext>
            </a:extLst>
          </p:cNvPr>
          <p:cNvSpPr txBox="1"/>
          <p:nvPr/>
        </p:nvSpPr>
        <p:spPr>
          <a:xfrm>
            <a:off x="685800" y="228600"/>
            <a:ext cx="6324600" cy="9525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99600"/>
              </a:lnSpc>
              <a:defRPr/>
            </a:pPr>
            <a:r>
              <a:rPr lang="ko-KR" altLang="en-US" sz="5300" b="0" i="0" u="none" strike="noStrike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리뷰 게시판 </a:t>
            </a:r>
            <a:endParaRPr lang="ko-KR" sz="5300" b="0" i="0" u="none" strike="noStrike" dirty="0">
              <a:solidFill>
                <a:srgbClr val="000000"/>
              </a:solidFill>
              <a:latin typeface="전기안전체 Bold" pitchFamily="50" charset="-127"/>
              <a:ea typeface="전기안전체 Bold" pitchFamily="50" charset="-127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838200" y="228600"/>
            <a:ext cx="17221200" cy="95123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9372600" y="2641600"/>
            <a:ext cx="6248400" cy="62484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2362200" y="5161722"/>
            <a:ext cx="14541500" cy="393700"/>
          </a:xfrm>
          <a:prstGeom prst="rect">
            <a:avLst/>
          </a:prstGeom>
        </p:spPr>
        <p:txBody>
          <a:bodyPr lIns="0" tIns="0" rIns="0" bIns="0" anchor="t"/>
          <a:lstStyle/>
          <a:p>
            <a:pPr marL="342900" lvl="0" indent="-342900" algn="l">
              <a:lnSpc>
                <a:spcPct val="122839"/>
              </a:lnSpc>
              <a:buFontTx/>
              <a:buChar char="-"/>
              <a:defRPr/>
            </a:pPr>
            <a:r>
              <a:rPr lang="ko-KR" altLang="en-US" sz="34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메인 페이지 </a:t>
            </a:r>
            <a:endParaRPr lang="en-US" altLang="ko-KR" sz="3400" b="0" i="0" u="none" strike="noStrike" spc="-100" dirty="0">
              <a:solidFill>
                <a:srgbClr val="000000"/>
              </a:solidFill>
              <a:latin typeface="전기안전체 Bold" pitchFamily="50" charset="-127"/>
              <a:ea typeface="전기안전체 Bold" pitchFamily="50" charset="-127"/>
            </a:endParaRPr>
          </a:p>
          <a:p>
            <a:pPr marL="342900" lvl="0" indent="-342900" algn="l">
              <a:lnSpc>
                <a:spcPct val="122839"/>
              </a:lnSpc>
              <a:buFontTx/>
              <a:buChar char="-"/>
              <a:defRPr/>
            </a:pPr>
            <a:r>
              <a:rPr lang="ko-KR" altLang="en-US" sz="34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회원 가입 </a:t>
            </a:r>
            <a:r>
              <a:rPr lang="en-US" altLang="ko-KR" sz="34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&amp; </a:t>
            </a:r>
            <a:r>
              <a:rPr lang="ko-KR" altLang="en-US" sz="34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로그인 </a:t>
            </a:r>
            <a:r>
              <a:rPr lang="en-US" altLang="ko-KR" sz="34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&amp; </a:t>
            </a:r>
            <a:r>
              <a:rPr lang="ko-KR" altLang="en-US" sz="34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소셜 로그인</a:t>
            </a:r>
            <a:endParaRPr lang="en-US" altLang="ko-KR" sz="3400" b="0" i="0" u="none" strike="noStrike" spc="-100" dirty="0">
              <a:solidFill>
                <a:srgbClr val="000000"/>
              </a:solidFill>
              <a:latin typeface="전기안전체 Bold" pitchFamily="50" charset="-127"/>
              <a:ea typeface="전기안전체 Bold" pitchFamily="50" charset="-127"/>
            </a:endParaRPr>
          </a:p>
          <a:p>
            <a:pPr marL="342900" lvl="0" indent="-342900" algn="l">
              <a:lnSpc>
                <a:spcPct val="122839"/>
              </a:lnSpc>
              <a:buFontTx/>
              <a:buChar char="-"/>
              <a:defRPr/>
            </a:pPr>
            <a:r>
              <a:rPr lang="ko-KR" altLang="en-US" sz="3400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추천 시스템 </a:t>
            </a:r>
            <a:r>
              <a:rPr lang="en-US" altLang="ko-KR" sz="3400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&amp; </a:t>
            </a:r>
            <a:r>
              <a:rPr lang="ko-KR" altLang="en-US" sz="3400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영양제 검색</a:t>
            </a:r>
            <a:endParaRPr lang="en-US" altLang="ko-KR" sz="3400" spc="-100" dirty="0">
              <a:solidFill>
                <a:srgbClr val="000000"/>
              </a:solidFill>
              <a:latin typeface="전기안전체 Bold" pitchFamily="50" charset="-127"/>
              <a:ea typeface="전기안전체 Bold" pitchFamily="50" charset="-127"/>
            </a:endParaRPr>
          </a:p>
          <a:p>
            <a:pPr marL="342900" lvl="0" indent="-342900" algn="l">
              <a:lnSpc>
                <a:spcPct val="122839"/>
              </a:lnSpc>
              <a:buFontTx/>
              <a:buChar char="-"/>
              <a:defRPr/>
            </a:pPr>
            <a:r>
              <a:rPr lang="ko-KR" altLang="en-US" sz="3400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스케쥴</a:t>
            </a:r>
            <a:endParaRPr lang="en-US" altLang="ko-KR" sz="3400" spc="-100" dirty="0">
              <a:solidFill>
                <a:srgbClr val="000000"/>
              </a:solidFill>
              <a:latin typeface="전기안전체 Bold" pitchFamily="50" charset="-127"/>
              <a:ea typeface="전기안전체 Bold" pitchFamily="50" charset="-127"/>
            </a:endParaRPr>
          </a:p>
          <a:p>
            <a:pPr marL="342900" lvl="0" indent="-342900" algn="l">
              <a:lnSpc>
                <a:spcPct val="122839"/>
              </a:lnSpc>
              <a:buFontTx/>
              <a:buChar char="-"/>
              <a:defRPr/>
            </a:pPr>
            <a:r>
              <a:rPr lang="ko-KR" altLang="en-US" sz="34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공지사항</a:t>
            </a:r>
            <a:r>
              <a:rPr lang="en-US" altLang="ko-KR" sz="3400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&amp; </a:t>
            </a:r>
            <a:r>
              <a:rPr lang="ko-KR" altLang="en-US" sz="3400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리뷰 게시판</a:t>
            </a:r>
            <a:endParaRPr lang="en-US" sz="3400" b="0" i="0" u="none" strike="noStrike" spc="-100" dirty="0">
              <a:solidFill>
                <a:srgbClr val="000000"/>
              </a:solidFill>
              <a:latin typeface="전기안전체 Bold" pitchFamily="50" charset="-127"/>
              <a:ea typeface="전기안전체 Bold" pitchFamily="50" charset="-127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2057400" y="3695700"/>
            <a:ext cx="14630400" cy="10795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06240"/>
              </a:lnSpc>
              <a:defRPr/>
            </a:pPr>
            <a:r>
              <a:rPr lang="ko-KR" sz="6100" b="0" i="0" u="none" strike="noStrike" spc="-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시연</a:t>
            </a:r>
            <a:r>
              <a:rPr lang="en-US" altLang="ko-KR" sz="6100" b="0" i="0" u="none" strike="noStrike" spc="-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en-US" altLang="ko-KR" sz="6100" spc="-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&amp;</a:t>
            </a:r>
            <a:r>
              <a:rPr lang="ko-KR" altLang="en-US" sz="6100" b="0" i="0" u="none" strike="noStrike" spc="-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트러블 슈팅</a:t>
            </a:r>
            <a:r>
              <a:rPr lang="en-US" sz="6100" b="0" i="0" u="none" strike="noStrike" spc="-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 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rot="10800000">
            <a:off x="-419100" y="2260600"/>
            <a:ext cx="16802100" cy="4953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 rot="7680000">
            <a:off x="15341600" y="266700"/>
            <a:ext cx="5118100" cy="4953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558800" y="215900"/>
            <a:ext cx="8585200" cy="12954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99600"/>
              </a:lnSpc>
              <a:defRPr/>
            </a:pPr>
            <a:r>
              <a:rPr lang="ko-KR" sz="7300" b="0" i="0" u="none" strike="noStrike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트러블</a:t>
            </a:r>
            <a:r>
              <a:rPr lang="en-US" sz="7300" b="0" i="0" u="none" strike="noStrike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7300" b="0" i="0" u="none" strike="noStrike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슈팅</a:t>
            </a:r>
            <a:r>
              <a:rPr lang="en-US" sz="7300" b="0" i="0" u="none" strike="noStrike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 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68300" y="3225800"/>
            <a:ext cx="17614900" cy="90170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7029"/>
              </a:lnSpc>
              <a:defRPr/>
            </a:pP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문제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발생</a:t>
            </a:r>
          </a:p>
          <a:p>
            <a:pPr lvl="0" algn="l">
              <a:lnSpc>
                <a:spcPct val="117029"/>
              </a:lnSpc>
              <a:defRPr/>
            </a:pPr>
            <a:endParaRPr lang="en-US" sz="2800" b="0" i="0" u="none" strike="noStrike" spc="200" dirty="0">
              <a:solidFill>
                <a:srgbClr val="000000"/>
              </a:solidFill>
              <a:latin typeface="전기안전체 Bold" pitchFamily="50" charset="-127"/>
              <a:ea typeface="전기안전체 Bold" pitchFamily="50" charset="-127"/>
            </a:endParaRPr>
          </a:p>
          <a:p>
            <a:pPr lvl="0" algn="l">
              <a:lnSpc>
                <a:spcPct val="117029"/>
              </a:lnSpc>
              <a:defRPr/>
            </a:pP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자연어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기반의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유사도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분석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모델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(Doc2Vec)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을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적용하여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 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제품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간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의미적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연관성을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활용한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추천을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시도함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.</a:t>
            </a:r>
          </a:p>
          <a:p>
            <a:pPr lvl="0" algn="l">
              <a:lnSpc>
                <a:spcPct val="117029"/>
              </a:lnSpc>
              <a:defRPr/>
            </a:pP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그러나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학습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데이터가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부족하고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문장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구조가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단순하여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 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모델이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정확한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유사도를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판단하지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못함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.</a:t>
            </a:r>
          </a:p>
          <a:p>
            <a:pPr lvl="0" algn="l">
              <a:lnSpc>
                <a:spcPct val="117029"/>
              </a:lnSpc>
              <a:defRPr/>
            </a:pP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그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결과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,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사용자의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검색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의도와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맞지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않는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제품까지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추천되며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 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추천의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신뢰도가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떨어지는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문제가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발생함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.</a:t>
            </a:r>
          </a:p>
          <a:p>
            <a:pPr lvl="0" algn="l">
              <a:lnSpc>
                <a:spcPct val="117029"/>
              </a:lnSpc>
              <a:defRPr/>
            </a:pPr>
            <a:endParaRPr lang="en-US" sz="2800" b="0" i="0" u="none" strike="noStrike" spc="200" dirty="0">
              <a:solidFill>
                <a:srgbClr val="000000"/>
              </a:solidFill>
              <a:latin typeface="전기안전체 Bold" pitchFamily="50" charset="-127"/>
              <a:ea typeface="전기안전체 Bold" pitchFamily="50" charset="-127"/>
            </a:endParaRPr>
          </a:p>
          <a:p>
            <a:pPr lvl="0" algn="l">
              <a:lnSpc>
                <a:spcPct val="117029"/>
              </a:lnSpc>
              <a:defRPr/>
            </a:pP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해결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방안</a:t>
            </a:r>
          </a:p>
          <a:p>
            <a:pPr lvl="0" algn="l">
              <a:lnSpc>
                <a:spcPct val="117029"/>
              </a:lnSpc>
              <a:defRPr/>
            </a:pPr>
            <a:endParaRPr lang="en-US" sz="2800" b="0" i="0" u="none" strike="noStrike" spc="200" dirty="0">
              <a:solidFill>
                <a:srgbClr val="000000"/>
              </a:solidFill>
              <a:latin typeface="전기안전체 Bold" pitchFamily="50" charset="-127"/>
              <a:ea typeface="전기안전체 Bold" pitchFamily="50" charset="-127"/>
            </a:endParaRPr>
          </a:p>
          <a:p>
            <a:pPr lvl="0" algn="l">
              <a:lnSpc>
                <a:spcPct val="117029"/>
              </a:lnSpc>
              <a:defRPr/>
            </a:pP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증상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/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성분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키워드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중심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필터링을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메인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로직으로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전환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.</a:t>
            </a:r>
          </a:p>
          <a:p>
            <a:pPr>
              <a:lnSpc>
                <a:spcPct val="117029"/>
              </a:lnSpc>
              <a:defRPr/>
            </a:pPr>
            <a:r>
              <a:rPr lang="ko-KR" alt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데이터를</a:t>
            </a:r>
            <a:r>
              <a:rPr lang="en-US" alt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alt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증상</a:t>
            </a:r>
            <a:r>
              <a:rPr lang="en-US" alt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alt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및</a:t>
            </a:r>
            <a:r>
              <a:rPr lang="en-US" alt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alt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성분</a:t>
            </a:r>
            <a:r>
              <a:rPr lang="en-US" alt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alt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기준으로</a:t>
            </a:r>
            <a:r>
              <a:rPr lang="en-US" alt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altLang="ko-KR" sz="2800" b="0" i="0" u="none" strike="noStrike" spc="200" dirty="0" err="1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전처리</a:t>
            </a:r>
            <a:r>
              <a:rPr lang="en-US" alt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, </a:t>
            </a:r>
            <a:r>
              <a:rPr lang="ko-KR" alt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카테고리별로</a:t>
            </a:r>
            <a:r>
              <a:rPr lang="ko-KR" altLang="en-US" sz="2800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en-US" alt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CSV </a:t>
            </a:r>
            <a:r>
              <a:rPr lang="ko-KR" alt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분리</a:t>
            </a:r>
            <a:r>
              <a:rPr lang="en-US" alt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alt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저장하여</a:t>
            </a:r>
            <a:r>
              <a:rPr lang="en-US" alt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alt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성능</a:t>
            </a:r>
            <a:r>
              <a:rPr lang="en-US" alt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alt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개선과</a:t>
            </a:r>
            <a:r>
              <a:rPr lang="en-US" alt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alt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관리도</a:t>
            </a:r>
            <a:r>
              <a:rPr lang="en-US" alt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alt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용이하게</a:t>
            </a:r>
            <a:r>
              <a:rPr lang="en-US" alt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alt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만듦</a:t>
            </a:r>
            <a:r>
              <a:rPr lang="en-US" alt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.</a:t>
            </a:r>
            <a:endParaRPr lang="en-US" sz="2800" b="0" i="0" u="none" strike="noStrike" spc="200" dirty="0">
              <a:solidFill>
                <a:srgbClr val="000000"/>
              </a:solidFill>
              <a:latin typeface="전기안전체 Bold" pitchFamily="50" charset="-127"/>
              <a:ea typeface="전기안전체 Bold" pitchFamily="50" charset="-127"/>
            </a:endParaRPr>
          </a:p>
          <a:p>
            <a:pPr lvl="0" algn="l">
              <a:lnSpc>
                <a:spcPct val="117029"/>
              </a:lnSpc>
              <a:defRPr/>
            </a:pP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공공데이터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외에도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altLang="en-US" sz="2800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사용자 검색결과를 기반으로 한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데이터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다양성과</a:t>
            </a:r>
            <a:r>
              <a:rPr lang="en-US" alt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alt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검색 결과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품질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향상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모색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.</a:t>
            </a:r>
          </a:p>
          <a:p>
            <a:pPr lvl="0" algn="l">
              <a:lnSpc>
                <a:spcPct val="117029"/>
              </a:lnSpc>
              <a:defRPr/>
            </a:pPr>
            <a:endParaRPr lang="en-US" sz="2800" b="0" i="0" u="none" strike="noStrike" spc="200" dirty="0">
              <a:solidFill>
                <a:srgbClr val="000000"/>
              </a:solidFill>
              <a:latin typeface="전기안전체 Bold" pitchFamily="50" charset="-127"/>
              <a:ea typeface="전기안전체 Bold" pitchFamily="50" charset="-127"/>
            </a:endParaRPr>
          </a:p>
          <a:p>
            <a:pPr lvl="0" algn="l">
              <a:lnSpc>
                <a:spcPct val="117029"/>
              </a:lnSpc>
              <a:defRPr/>
            </a:pPr>
            <a:endParaRPr lang="en-US" sz="2800" b="0" i="0" u="none" strike="noStrike" spc="200" dirty="0">
              <a:solidFill>
                <a:srgbClr val="000000"/>
              </a:solidFill>
              <a:latin typeface="전기안전체 Bold" pitchFamily="50" charset="-127"/>
              <a:ea typeface="전기안전체 Bold" pitchFamily="50" charset="-127"/>
            </a:endParaRPr>
          </a:p>
          <a:p>
            <a:pPr lvl="0" algn="l">
              <a:lnSpc>
                <a:spcPct val="117029"/>
              </a:lnSpc>
              <a:defRPr/>
            </a:pPr>
            <a:endParaRPr lang="en-US" sz="2800" b="0" i="0" u="none" strike="noStrike" spc="200" dirty="0">
              <a:solidFill>
                <a:srgbClr val="000000"/>
              </a:solidFill>
              <a:latin typeface="전기안전체 Bold" pitchFamily="50" charset="-127"/>
              <a:ea typeface="전기안전체 Bold" pitchFamily="50" charset="-127"/>
            </a:endParaRPr>
          </a:p>
          <a:p>
            <a:pPr lvl="0" algn="l">
              <a:lnSpc>
                <a:spcPct val="117029"/>
              </a:lnSpc>
              <a:defRPr/>
            </a:pPr>
            <a:endParaRPr lang="en-US" sz="2800" b="0" i="0" u="none" strike="noStrike" spc="200" dirty="0">
              <a:solidFill>
                <a:srgbClr val="000000"/>
              </a:solidFill>
              <a:latin typeface="전기안전체 Bold" pitchFamily="50" charset="-127"/>
              <a:ea typeface="전기안전체 Bold" pitchFamily="50" charset="-127"/>
            </a:endParaRPr>
          </a:p>
          <a:p>
            <a:pPr lvl="0" algn="l">
              <a:lnSpc>
                <a:spcPct val="117029"/>
              </a:lnSpc>
              <a:defRPr/>
            </a:pPr>
            <a:endParaRPr lang="en-US" sz="2800" b="0" i="0" u="none" strike="noStrike" spc="200" dirty="0">
              <a:solidFill>
                <a:srgbClr val="000000"/>
              </a:solidFill>
              <a:latin typeface="전기안전체 Bold" pitchFamily="50" charset="-127"/>
              <a:ea typeface="전기안전체 Bold" pitchFamily="50" charset="-127"/>
            </a:endParaRPr>
          </a:p>
          <a:p>
            <a:pPr lvl="0" algn="l">
              <a:lnSpc>
                <a:spcPct val="117029"/>
              </a:lnSpc>
              <a:defRPr/>
            </a:pPr>
            <a:endParaRPr lang="en-US" sz="2800" b="0" i="0" u="none" strike="noStrike" spc="200" dirty="0">
              <a:solidFill>
                <a:srgbClr val="000000"/>
              </a:solidFill>
              <a:latin typeface="전기안전체 Bold" pitchFamily="50" charset="-127"/>
              <a:ea typeface="전기안전체 Bold" pitchFamily="50" charset="-127"/>
            </a:endParaRPr>
          </a:p>
          <a:p>
            <a:pPr lvl="0" algn="l">
              <a:lnSpc>
                <a:spcPct val="117029"/>
              </a:lnSpc>
              <a:defRPr/>
            </a:pPr>
            <a:endParaRPr lang="en-US" sz="2800" b="0" i="0" u="none" strike="noStrike" spc="200" dirty="0">
              <a:solidFill>
                <a:srgbClr val="000000"/>
              </a:solidFill>
              <a:latin typeface="전기안전체 Bold" pitchFamily="50" charset="-127"/>
              <a:ea typeface="전기안전체 Bold" pitchFamily="50" charset="-127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863600" y="1663700"/>
            <a:ext cx="5613400" cy="6223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99600"/>
              </a:lnSpc>
              <a:defRPr/>
            </a:pPr>
            <a:r>
              <a:rPr lang="en-US" sz="3500" b="0" i="0" u="none" strike="noStrike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  </a:t>
            </a:r>
            <a:r>
              <a:rPr lang="ko-KR" sz="3500" b="0" i="0" u="none" strike="noStrike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추천</a:t>
            </a:r>
            <a:r>
              <a:rPr lang="en-US" altLang="ko-KR" sz="3500" b="0" i="0" u="none" strike="noStrike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3500" b="0" i="0" u="none" strike="noStrike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시스템</a:t>
            </a:r>
            <a:r>
              <a:rPr lang="ko-KR" altLang="en-US" sz="3500" b="0" i="0" u="none" strike="noStrike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－</a:t>
            </a:r>
            <a:r>
              <a:rPr lang="en-US" altLang="ko-KR" sz="3500" b="0" i="0" u="none" strike="noStrike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altLang="en-US" sz="3500" b="0" i="0" u="none" strike="noStrike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모델 선택 문제</a:t>
            </a:r>
            <a:r>
              <a:rPr lang="en-US" altLang="ko-KR" sz="3500" b="0" i="0" u="none" strike="noStrike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en-US" sz="3500" b="0" i="0" u="none" strike="noStrike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 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rot="10800000">
            <a:off x="-419100" y="2260600"/>
            <a:ext cx="16802100" cy="4953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 rot="7680000">
            <a:off x="15341600" y="266700"/>
            <a:ext cx="5118100" cy="4953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558800" y="215900"/>
            <a:ext cx="11938000" cy="12954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99600"/>
              </a:lnSpc>
              <a:defRPr/>
            </a:pPr>
            <a:r>
              <a:rPr lang="ko-KR" sz="7300" b="0" i="0" u="none" strike="noStrike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트러블</a:t>
            </a:r>
            <a:r>
              <a:rPr lang="en-US" sz="7300" b="0" i="0" u="none" strike="noStrike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7300" b="0" i="0" u="none" strike="noStrike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슈팅</a:t>
            </a:r>
            <a:r>
              <a:rPr lang="en-US" sz="7300" b="0" i="0" u="none" strike="noStrike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 </a:t>
            </a:r>
            <a:endParaRPr lang="en-US" sz="7300" b="0" i="0" u="none" strike="noStrike" dirty="0">
              <a:solidFill>
                <a:srgbClr val="000000"/>
              </a:solidFill>
              <a:ea typeface="전기안전체 Bold" pitchFamily="50" charset="-127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368300" y="3225800"/>
            <a:ext cx="17005300" cy="54737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문제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발생</a:t>
            </a:r>
          </a:p>
          <a:p>
            <a:pPr lvl="0" algn="l">
              <a:lnSpc>
                <a:spcPct val="116199"/>
              </a:lnSpc>
              <a:defRPr/>
            </a:pPr>
            <a:endParaRPr lang="en-US" sz="2800" b="0" i="0" u="none" strike="noStrike" spc="200" dirty="0">
              <a:solidFill>
                <a:srgbClr val="000000"/>
              </a:solidFill>
              <a:ea typeface="전기안전체 Bold" pitchFamily="50" charset="-127"/>
            </a:endParaRPr>
          </a:p>
          <a:p>
            <a:pPr lvl="0" algn="l">
              <a:lnSpc>
                <a:spcPct val="116199"/>
              </a:lnSpc>
              <a:defRPr/>
            </a:pP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추천된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제품명을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그대로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검색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API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에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적용했을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때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,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의도하지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않은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일반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상품들이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다수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검색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사용자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혼란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유발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.</a:t>
            </a:r>
          </a:p>
          <a:p>
            <a:pPr lvl="0" algn="l">
              <a:lnSpc>
                <a:spcPct val="116199"/>
              </a:lnSpc>
              <a:defRPr/>
            </a:pP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제품명에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제조사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,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기능성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문구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등이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포함되면서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검색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결과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분산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,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핵심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키워드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강조되지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않는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문제가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발생함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.</a:t>
            </a:r>
          </a:p>
          <a:p>
            <a:pPr lvl="0" algn="l">
              <a:lnSpc>
                <a:spcPct val="116199"/>
              </a:lnSpc>
              <a:defRPr/>
            </a:pPr>
            <a:endParaRPr lang="en-US" sz="2800" b="0" i="0" u="none" strike="noStrike" spc="200" dirty="0">
              <a:solidFill>
                <a:srgbClr val="000000"/>
              </a:solidFill>
              <a:ea typeface="전기안전체 Bold" pitchFamily="50" charset="-127"/>
            </a:endParaRPr>
          </a:p>
          <a:p>
            <a:pPr lvl="0" algn="l">
              <a:lnSpc>
                <a:spcPct val="116199"/>
              </a:lnSpc>
              <a:defRPr/>
            </a:pPr>
            <a:endParaRPr lang="en-US" sz="2800" b="0" i="0" u="none" strike="noStrike" spc="200" dirty="0">
              <a:solidFill>
                <a:srgbClr val="000000"/>
              </a:solidFill>
              <a:ea typeface="전기안전체 Bold" pitchFamily="50" charset="-127"/>
            </a:endParaRPr>
          </a:p>
          <a:p>
            <a:pPr lvl="0" algn="l">
              <a:lnSpc>
                <a:spcPct val="116199"/>
              </a:lnSpc>
              <a:defRPr/>
            </a:pP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해결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방안</a:t>
            </a:r>
          </a:p>
          <a:p>
            <a:pPr lvl="0" algn="l">
              <a:lnSpc>
                <a:spcPct val="116199"/>
              </a:lnSpc>
              <a:defRPr/>
            </a:pPr>
            <a:endParaRPr lang="en-US" sz="2800" b="0" i="0" u="none" strike="noStrike" spc="200" dirty="0">
              <a:solidFill>
                <a:srgbClr val="000000"/>
              </a:solidFill>
              <a:ea typeface="전기안전체 Bold" pitchFamily="50" charset="-127"/>
            </a:endParaRPr>
          </a:p>
          <a:p>
            <a:pPr lvl="0" algn="l">
              <a:lnSpc>
                <a:spcPct val="116199"/>
              </a:lnSpc>
              <a:defRPr/>
            </a:pP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API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요청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시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건강기능식품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카테고리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ID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를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명시하여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검색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대상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자체를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제한함으로써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정확도를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개선함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.</a:t>
            </a:r>
          </a:p>
          <a:p>
            <a:pPr lvl="0" algn="l">
              <a:lnSpc>
                <a:spcPct val="116199"/>
              </a:lnSpc>
              <a:defRPr/>
            </a:pP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제품명에서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핵심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키워드만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추출하고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,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부가적인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단어나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불필요한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정보를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제거하는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정제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로직을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도입함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.</a:t>
            </a:r>
          </a:p>
          <a:p>
            <a:pPr lvl="0" algn="l">
              <a:lnSpc>
                <a:spcPct val="116199"/>
              </a:lnSpc>
              <a:defRPr/>
            </a:pP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향후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사용자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피드백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데이터를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반영하여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검색어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추천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및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결과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정렬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알고리즘을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고도화</a:t>
            </a:r>
            <a:endParaRPr lang="ko-KR" sz="2800" b="0" i="0" u="none" strike="noStrike" spc="200" dirty="0">
              <a:solidFill>
                <a:srgbClr val="000000"/>
              </a:solidFill>
              <a:ea typeface="전기안전체 Bold" pitchFamily="50" charset="-127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863600" y="1663700"/>
            <a:ext cx="6299200" cy="5334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99600"/>
              </a:lnSpc>
              <a:defRPr/>
            </a:pPr>
            <a:r>
              <a:rPr lang="en-US" sz="3500" b="0" i="0" u="none" strike="noStrike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 </a:t>
            </a:r>
            <a:r>
              <a:rPr lang="ko-KR" sz="3500" b="0" i="0" u="none" strike="noStrike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네이버</a:t>
            </a:r>
            <a:r>
              <a:rPr lang="en-US" sz="3500" b="0" i="0" u="none" strike="noStrike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altLang="en-US" sz="3500" b="0" i="0" u="none" strike="noStrike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검색</a:t>
            </a:r>
            <a:r>
              <a:rPr lang="en-US" sz="3500" b="0" i="0" u="none" strike="noStrike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API </a:t>
            </a:r>
            <a:endParaRPr lang="ko-KR" sz="3500" b="0" i="0" u="none" strike="noStrike" dirty="0">
              <a:solidFill>
                <a:srgbClr val="000000"/>
              </a:solidFill>
              <a:ea typeface="전기안전체 Bold" pitchFamily="50" charset="-127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rot="10800000">
            <a:off x="-419100" y="2260600"/>
            <a:ext cx="16802100" cy="4953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 rot="7680000">
            <a:off x="15341600" y="266700"/>
            <a:ext cx="5118100" cy="4953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558800" y="215900"/>
            <a:ext cx="15062200" cy="12954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99600"/>
              </a:lnSpc>
              <a:defRPr/>
            </a:pPr>
            <a:r>
              <a:rPr lang="ko-KR" sz="7300" b="0" i="0" u="none" strike="noStrike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트러블</a:t>
            </a:r>
            <a:r>
              <a:rPr lang="en-US" sz="7300" b="0" i="0" u="none" strike="noStrike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7300" b="0" i="0" u="none" strike="noStrike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슈팅</a:t>
            </a:r>
            <a:r>
              <a:rPr lang="en-US" sz="7300" b="0" i="0" u="none" strike="noStrike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 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63600" y="1663700"/>
            <a:ext cx="4013200" cy="5334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99600"/>
              </a:lnSpc>
              <a:defRPr/>
            </a:pPr>
            <a:r>
              <a:rPr lang="ko-KR" sz="3500" b="0" i="0" u="none" strike="noStrike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소셜</a:t>
            </a:r>
            <a:r>
              <a:rPr lang="en-US" sz="3500" b="0" i="0" u="none" strike="noStrike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로그인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68300" y="3225800"/>
            <a:ext cx="17767300" cy="54737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문제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발생</a:t>
            </a:r>
          </a:p>
          <a:p>
            <a:pPr lvl="0" algn="l">
              <a:lnSpc>
                <a:spcPct val="116199"/>
              </a:lnSpc>
              <a:defRPr/>
            </a:pPr>
            <a:endParaRPr lang="en-US" sz="2800" b="0" i="0" u="none" strike="noStrike" spc="200" dirty="0">
              <a:solidFill>
                <a:srgbClr val="000000"/>
              </a:solidFill>
              <a:latin typeface="전기안전체 Bold" pitchFamily="50" charset="-127"/>
              <a:ea typeface="전기안전체 Bold" pitchFamily="50" charset="-127"/>
            </a:endParaRPr>
          </a:p>
          <a:p>
            <a:pPr lvl="0" algn="l">
              <a:lnSpc>
                <a:spcPct val="116199"/>
              </a:lnSpc>
              <a:defRPr/>
            </a:pP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Spring Security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기반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OAuth2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흐름을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 err="1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백엔드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중심으로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설계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, SPA(React)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구조와의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 err="1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리다이렉트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충돌이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발생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.</a:t>
            </a:r>
          </a:p>
          <a:p>
            <a:pPr lvl="0" algn="l">
              <a:lnSpc>
                <a:spcPct val="116199"/>
              </a:lnSpc>
              <a:defRPr/>
            </a:pP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OAuth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인증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후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전달되는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코드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처리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방식이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 err="1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프론트엔드와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분리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,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사용자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경험에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혼란을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주는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문제가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발생함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.</a:t>
            </a:r>
          </a:p>
          <a:p>
            <a:pPr lvl="0" algn="l">
              <a:lnSpc>
                <a:spcPct val="116199"/>
              </a:lnSpc>
              <a:defRPr/>
            </a:pPr>
            <a:endParaRPr lang="en-US" sz="2800" b="0" i="0" u="none" strike="noStrike" spc="200" dirty="0">
              <a:solidFill>
                <a:srgbClr val="000000"/>
              </a:solidFill>
              <a:latin typeface="전기안전체 Bold" pitchFamily="50" charset="-127"/>
              <a:ea typeface="전기안전체 Bold" pitchFamily="50" charset="-127"/>
            </a:endParaRPr>
          </a:p>
          <a:p>
            <a:pPr lvl="0" algn="l">
              <a:lnSpc>
                <a:spcPct val="116199"/>
              </a:lnSpc>
              <a:defRPr/>
            </a:pPr>
            <a:endParaRPr lang="en-US" sz="2800" b="0" i="0" u="none" strike="noStrike" spc="200" dirty="0">
              <a:solidFill>
                <a:srgbClr val="000000"/>
              </a:solidFill>
              <a:latin typeface="전기안전체 Bold" pitchFamily="50" charset="-127"/>
              <a:ea typeface="전기안전체 Bold" pitchFamily="50" charset="-127"/>
            </a:endParaRPr>
          </a:p>
          <a:p>
            <a:pPr lvl="0" algn="l">
              <a:lnSpc>
                <a:spcPct val="116199"/>
              </a:lnSpc>
              <a:defRPr/>
            </a:pP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해결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방안</a:t>
            </a:r>
          </a:p>
          <a:p>
            <a:pPr lvl="0" algn="l">
              <a:lnSpc>
                <a:spcPct val="116199"/>
              </a:lnSpc>
              <a:defRPr/>
            </a:pPr>
            <a:endParaRPr lang="en-US" sz="2800" b="0" i="0" u="none" strike="noStrike" spc="200" dirty="0">
              <a:solidFill>
                <a:srgbClr val="000000"/>
              </a:solidFill>
              <a:latin typeface="전기안전체 Bold" pitchFamily="50" charset="-127"/>
              <a:ea typeface="전기안전체 Bold" pitchFamily="50" charset="-127"/>
            </a:endParaRPr>
          </a:p>
          <a:p>
            <a:pPr lvl="0" algn="l">
              <a:lnSpc>
                <a:spcPct val="116199"/>
              </a:lnSpc>
              <a:defRPr/>
            </a:pP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React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에서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전용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 err="1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콜백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컴포넌트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생성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인증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코드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수신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→ </a:t>
            </a:r>
            <a:r>
              <a:rPr lang="ko-KR" sz="2800" b="0" i="0" u="none" strike="noStrike" spc="200" dirty="0" err="1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백엔드로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전달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→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토큰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수신까지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흐름을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명확히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분리함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.</a:t>
            </a:r>
          </a:p>
          <a:p>
            <a:pPr lvl="0" algn="l">
              <a:lnSpc>
                <a:spcPct val="116199"/>
              </a:lnSpc>
              <a:defRPr/>
            </a:pP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API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응답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구조를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통일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(</a:t>
            </a:r>
            <a:r>
              <a:rPr lang="en-US" sz="2800" b="0" i="0" u="none" strike="noStrike" spc="200" dirty="0" err="1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ApiResponse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클래스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활용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), </a:t>
            </a:r>
            <a:r>
              <a:rPr lang="ko-KR" sz="2800" b="0" i="0" u="none" strike="noStrike" spc="200" dirty="0" err="1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프론트엔드의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파싱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오류를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방지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데이터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처리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일관성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확보함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.</a:t>
            </a:r>
          </a:p>
          <a:p>
            <a:pPr lvl="0" algn="l">
              <a:lnSpc>
                <a:spcPct val="116199"/>
              </a:lnSpc>
              <a:defRPr/>
            </a:pP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로딩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중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피드백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,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오류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메시지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등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UI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요소를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추가하여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사용자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경험을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개선함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rot="10800000">
            <a:off x="-419100" y="2260600"/>
            <a:ext cx="16802100" cy="4953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 rot="7680000">
            <a:off x="15341600" y="266700"/>
            <a:ext cx="5118100" cy="4953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558800" y="215900"/>
            <a:ext cx="8813800" cy="12954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99600"/>
              </a:lnSpc>
              <a:defRPr/>
            </a:pPr>
            <a:r>
              <a:rPr lang="ko-KR" sz="7300" b="0" i="0" u="none" strike="noStrike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트러블</a:t>
            </a:r>
            <a:r>
              <a:rPr lang="en-US" sz="7300" b="0" i="0" u="none" strike="noStrike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7300" b="0" i="0" u="none" strike="noStrike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슈팅</a:t>
            </a:r>
            <a:r>
              <a:rPr lang="en-US" sz="7300" b="0" i="0" u="none" strike="noStrike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 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63600" y="1663700"/>
            <a:ext cx="3937000" cy="6223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99600"/>
              </a:lnSpc>
              <a:defRPr/>
            </a:pPr>
            <a:r>
              <a:rPr lang="ko-KR" sz="3500" b="0" i="0" u="none" strike="noStrike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게시판</a:t>
            </a:r>
            <a:r>
              <a:rPr lang="en-US" sz="3500" b="0" i="0" u="none" strike="noStrike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3500" b="0" i="0" u="none" strike="noStrike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조회수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68300" y="3225800"/>
            <a:ext cx="17614900" cy="54737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문제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발생</a:t>
            </a:r>
          </a:p>
          <a:p>
            <a:pPr lvl="0" algn="l">
              <a:lnSpc>
                <a:spcPct val="116199"/>
              </a:lnSpc>
              <a:defRPr/>
            </a:pPr>
            <a:endParaRPr lang="en-US" sz="2800" b="0" i="0" u="none" strike="noStrike" spc="200" dirty="0">
              <a:solidFill>
                <a:srgbClr val="000000"/>
              </a:solidFill>
              <a:latin typeface="전기안전체 Bold" pitchFamily="50" charset="-127"/>
              <a:ea typeface="전기안전체 Bold" pitchFamily="50" charset="-127"/>
            </a:endParaRPr>
          </a:p>
          <a:p>
            <a:pPr lvl="0" algn="l">
              <a:lnSpc>
                <a:spcPct val="116199"/>
              </a:lnSpc>
              <a:defRPr/>
            </a:pP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리뷰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게시글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 err="1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조회시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조회수가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자동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증가하는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로직으로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인해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,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테스트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실행만으로도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조회수가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올라가는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문제가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발생</a:t>
            </a:r>
          </a:p>
          <a:p>
            <a:pPr lvl="0" algn="l">
              <a:lnSpc>
                <a:spcPct val="116199"/>
              </a:lnSpc>
              <a:defRPr/>
            </a:pP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여러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사용자가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동시에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접근할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경우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조회수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증가가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중복되거나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누락될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수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있는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동시성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문제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고려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필요</a:t>
            </a:r>
          </a:p>
          <a:p>
            <a:pPr lvl="0" algn="l">
              <a:lnSpc>
                <a:spcPct val="116199"/>
              </a:lnSpc>
              <a:defRPr/>
            </a:pPr>
            <a:endParaRPr lang="en-US" sz="2800" b="0" i="0" u="none" strike="noStrike" spc="200" dirty="0">
              <a:solidFill>
                <a:srgbClr val="000000"/>
              </a:solidFill>
              <a:latin typeface="전기안전체 Bold" pitchFamily="50" charset="-127"/>
              <a:ea typeface="전기안전체 Bold" pitchFamily="50" charset="-127"/>
            </a:endParaRPr>
          </a:p>
          <a:p>
            <a:pPr lvl="0" algn="l">
              <a:lnSpc>
                <a:spcPct val="116199"/>
              </a:lnSpc>
              <a:defRPr/>
            </a:pPr>
            <a:endParaRPr lang="en-US" sz="2800" b="0" i="0" u="none" strike="noStrike" spc="200" dirty="0">
              <a:solidFill>
                <a:srgbClr val="000000"/>
              </a:solidFill>
              <a:latin typeface="전기안전체 Bold" pitchFamily="50" charset="-127"/>
              <a:ea typeface="전기안전체 Bold" pitchFamily="50" charset="-127"/>
            </a:endParaRPr>
          </a:p>
          <a:p>
            <a:pPr lvl="0" algn="l">
              <a:lnSpc>
                <a:spcPct val="116199"/>
              </a:lnSpc>
              <a:defRPr/>
            </a:pP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해결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방안</a:t>
            </a:r>
          </a:p>
          <a:p>
            <a:pPr lvl="0" algn="l">
              <a:lnSpc>
                <a:spcPct val="116199"/>
              </a:lnSpc>
              <a:defRPr/>
            </a:pPr>
            <a:endParaRPr lang="en-US" sz="2800" b="0" i="0" u="none" strike="noStrike" spc="200" dirty="0">
              <a:solidFill>
                <a:srgbClr val="000000"/>
              </a:solidFill>
              <a:latin typeface="전기안전체 Bold" pitchFamily="50" charset="-127"/>
              <a:ea typeface="전기안전체 Bold" pitchFamily="50" charset="-127"/>
            </a:endParaRPr>
          </a:p>
          <a:p>
            <a:pPr lvl="0" algn="l">
              <a:lnSpc>
                <a:spcPct val="116199"/>
              </a:lnSpc>
              <a:defRPr/>
            </a:pP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상세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페이지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진입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시점에만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조회수가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증가되도록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로직을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분리하여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의도하지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않은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증가를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방지함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.</a:t>
            </a:r>
          </a:p>
          <a:p>
            <a:pPr lvl="0" algn="l">
              <a:lnSpc>
                <a:spcPct val="116199"/>
              </a:lnSpc>
              <a:defRPr/>
            </a:pP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@Transactional </a:t>
            </a:r>
            <a:r>
              <a:rPr lang="ko-KR" sz="2800" b="0" i="0" u="none" strike="noStrike" spc="200" dirty="0" err="1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어노테이션을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활용하여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동시에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접근하는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상황에서도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데이터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정합성을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유지함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.</a:t>
            </a:r>
          </a:p>
          <a:p>
            <a:pPr lvl="0" algn="l">
              <a:lnSpc>
                <a:spcPct val="116199"/>
              </a:lnSpc>
              <a:defRPr/>
            </a:pPr>
            <a:r>
              <a:rPr lang="en-US" alt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My SQL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기반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구조에서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en-US" sz="2800" b="0" i="0" u="none" strike="noStrike" spc="200" dirty="0" err="1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InnoDB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의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행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수준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 err="1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락을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활용해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 err="1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락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처리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없이도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안정적으로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처리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가능하도록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</a:t>
            </a:r>
            <a:r>
              <a:rPr lang="ko-KR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설계함</a:t>
            </a:r>
            <a:r>
              <a:rPr lang="en-US" sz="2800" b="0" i="0" u="none" strike="noStrike" spc="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838200" y="228600"/>
            <a:ext cx="17221200" cy="95123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8001000" y="2273300"/>
            <a:ext cx="6388100" cy="63881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2178050" y="5472320"/>
            <a:ext cx="14541500" cy="3937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22839"/>
              </a:lnSpc>
              <a:defRPr/>
            </a:pPr>
            <a:r>
              <a:rPr lang="en-US" altLang="ko-KR" sz="32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-  </a:t>
            </a:r>
            <a:r>
              <a:rPr lang="en-US" altLang="ko-KR" sz="3200" b="0" i="0" u="none" strike="noStrike" spc="-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Q</a:t>
            </a:r>
            <a:r>
              <a:rPr lang="en-US" altLang="ko-KR" sz="3200" spc="-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&amp;A</a:t>
            </a:r>
            <a:endParaRPr lang="en-US" altLang="ko-KR" sz="3200" b="0" i="0" u="none" strike="noStrike" spc="-100" dirty="0">
              <a:solidFill>
                <a:srgbClr val="000000"/>
              </a:solidFill>
              <a:latin typeface="전기안전체 Bold" pitchFamily="50" charset="-127"/>
              <a:ea typeface="전기안전체 Bold" pitchFamily="50" charset="-127"/>
            </a:endParaRPr>
          </a:p>
          <a:p>
            <a:pPr lvl="0" algn="l">
              <a:lnSpc>
                <a:spcPct val="122839"/>
              </a:lnSpc>
              <a:defRPr/>
            </a:pPr>
            <a:r>
              <a:rPr lang="en-US" altLang="ko-KR" sz="3200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 -  </a:t>
            </a:r>
            <a:r>
              <a:rPr lang="ko-KR" altLang="en-US" sz="3200" b="0" i="0" u="none" strike="noStrike" spc="-1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후기</a:t>
            </a:r>
            <a:endParaRPr lang="en-US" sz="3200" b="0" i="0" u="none" strike="noStrike" spc="-100" dirty="0">
              <a:solidFill>
                <a:srgbClr val="000000"/>
              </a:solidFill>
              <a:latin typeface="전기안전체 Bold" pitchFamily="50" charset="-127"/>
              <a:ea typeface="전기안전체 Bold" pitchFamily="50" charset="-127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905000" y="3987800"/>
            <a:ext cx="14630400" cy="10795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06240"/>
              </a:lnSpc>
              <a:defRPr/>
            </a:pPr>
            <a:r>
              <a:rPr lang="en-US" altLang="ko-KR" sz="6100" b="0" i="0" u="none" strike="noStrike" spc="-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Q</a:t>
            </a:r>
            <a:r>
              <a:rPr lang="en-US" altLang="ko-KR" sz="6100" spc="-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&amp;A  &amp;  </a:t>
            </a:r>
            <a:r>
              <a:rPr lang="ko-KR" altLang="en-US" sz="6100" spc="-200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후기</a:t>
            </a:r>
            <a:endParaRPr lang="ko-KR" sz="6100" b="0" i="0" u="none" strike="noStrike" spc="-200" dirty="0">
              <a:solidFill>
                <a:srgbClr val="000000"/>
              </a:solidFill>
              <a:latin typeface="전기안전체 Bold" pitchFamily="50" charset="-127"/>
              <a:ea typeface="전기안전체 Bold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872933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EC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5638800" y="2324100"/>
            <a:ext cx="6388100" cy="63881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A52B6B1-3F9D-8D1B-4DB9-98FF66FD10B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533400" y="342900"/>
            <a:ext cx="17221200" cy="9512300"/>
          </a:xfrm>
          <a:prstGeom prst="rect">
            <a:avLst/>
          </a:prstGeom>
        </p:spPr>
      </p:pic>
      <p:sp>
        <p:nvSpPr>
          <p:cNvPr id="2" name="TextBox 2"/>
          <p:cNvSpPr txBox="1"/>
          <p:nvPr/>
        </p:nvSpPr>
        <p:spPr>
          <a:xfrm>
            <a:off x="7696200" y="2921000"/>
            <a:ext cx="2019300" cy="11176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99600"/>
              </a:lnSpc>
              <a:defRPr/>
            </a:pPr>
            <a:r>
              <a:rPr lang="ko-KR" altLang="en-US" sz="7300" b="0" i="0" u="none" strike="noStrike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후기</a:t>
            </a:r>
            <a:endParaRPr lang="en-US" altLang="ko-KR" sz="7300" b="0" i="0" u="none" strike="noStrike" dirty="0">
              <a:solidFill>
                <a:srgbClr val="000000"/>
              </a:solidFill>
              <a:latin typeface="전기안전체 Bold" pitchFamily="50" charset="-127"/>
              <a:ea typeface="전기안전체 Bold" pitchFamily="50" charset="-127"/>
            </a:endParaRPr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FD227850-850B-5BDC-1DA0-3D534010E530}"/>
              </a:ext>
            </a:extLst>
          </p:cNvPr>
          <p:cNvSpPr txBox="1"/>
          <p:nvPr/>
        </p:nvSpPr>
        <p:spPr>
          <a:xfrm>
            <a:off x="5410200" y="5829300"/>
            <a:ext cx="10820400" cy="11176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99600"/>
              </a:lnSpc>
              <a:defRPr/>
            </a:pPr>
            <a:endParaRPr lang="en-US" altLang="ko-KR" sz="7300" b="0" i="0" u="none" strike="noStrike" dirty="0">
              <a:solidFill>
                <a:srgbClr val="000000"/>
              </a:solidFill>
              <a:latin typeface="전기안전체 Bold" pitchFamily="50" charset="-127"/>
              <a:ea typeface="전기안전체 Bold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1D9AB0-B1BF-742A-590C-3BEDDDEA11AC}"/>
              </a:ext>
            </a:extLst>
          </p:cNvPr>
          <p:cNvSpPr txBox="1"/>
          <p:nvPr/>
        </p:nvSpPr>
        <p:spPr>
          <a:xfrm>
            <a:off x="3429000" y="4686300"/>
            <a:ext cx="112014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600" dirty="0">
                <a:latin typeface="전기안전체 Bold" pitchFamily="50" charset="-127"/>
                <a:ea typeface="전기안전체 Bold" pitchFamily="50" charset="-127"/>
              </a:rPr>
              <a:t>"</a:t>
            </a:r>
            <a:r>
              <a:rPr lang="ko-KR" altLang="en-US" sz="3600" dirty="0">
                <a:latin typeface="전기안전체 Bold" pitchFamily="50" charset="-127"/>
                <a:ea typeface="전기안전체 Bold" pitchFamily="50" charset="-127"/>
              </a:rPr>
              <a:t>이번 프로젝트를 통해 원활한 소통과 </a:t>
            </a:r>
            <a:r>
              <a:rPr lang="en-US" altLang="ko-KR" sz="3600" dirty="0">
                <a:latin typeface="전기안전체 Bold" pitchFamily="50" charset="-127"/>
                <a:ea typeface="전기안전체 Bold" pitchFamily="50" charset="-127"/>
              </a:rPr>
              <a:t>Git</a:t>
            </a:r>
            <a:r>
              <a:rPr lang="ko-KR" altLang="en-US" sz="3600" dirty="0">
                <a:latin typeface="전기안전체 Bold" pitchFamily="50" charset="-127"/>
                <a:ea typeface="전기안전체 Bold" pitchFamily="50" charset="-127"/>
              </a:rPr>
              <a:t>을 활용한 </a:t>
            </a:r>
            <a:endParaRPr lang="en-US" altLang="ko-KR" sz="3600" dirty="0">
              <a:latin typeface="전기안전체 Bold" pitchFamily="50" charset="-127"/>
              <a:ea typeface="전기안전체 Bold" pitchFamily="50" charset="-127"/>
            </a:endParaRPr>
          </a:p>
          <a:p>
            <a:r>
              <a:rPr lang="ko-KR" altLang="en-US" sz="3600" dirty="0">
                <a:latin typeface="전기안전체 Bold" pitchFamily="50" charset="-127"/>
                <a:ea typeface="전기안전체 Bold" pitchFamily="50" charset="-127"/>
              </a:rPr>
              <a:t>형상 관리가 개발 완성도를 높이는 핵심 요소임을 배웠습니다</a:t>
            </a:r>
            <a:r>
              <a:rPr lang="en-US" altLang="ko-KR" sz="3600" dirty="0">
                <a:latin typeface="전기안전체 Bold" pitchFamily="50" charset="-127"/>
                <a:ea typeface="전기안전체 Bold" pitchFamily="50" charset="-127"/>
              </a:rPr>
              <a:t> ."</a:t>
            </a:r>
          </a:p>
          <a:p>
            <a:endParaRPr lang="en-US" altLang="ko-KR" sz="3600" dirty="0">
              <a:latin typeface="전기안전체 Bold" pitchFamily="50" charset="-127"/>
              <a:ea typeface="전기안전체 Bold" pitchFamily="50" charset="-127"/>
            </a:endParaRPr>
          </a:p>
          <a:p>
            <a:r>
              <a:rPr lang="en-US" altLang="ko-KR" sz="3600" dirty="0">
                <a:latin typeface="전기안전체 Bold" pitchFamily="50" charset="-127"/>
                <a:ea typeface="전기안전체 Bold" pitchFamily="50" charset="-127"/>
              </a:rPr>
              <a:t>"</a:t>
            </a:r>
            <a:r>
              <a:rPr lang="ko-KR" altLang="en-US" sz="3600" dirty="0">
                <a:latin typeface="전기안전체 Bold" pitchFamily="50" charset="-127"/>
                <a:ea typeface="전기안전체 Bold" pitchFamily="50" charset="-127"/>
              </a:rPr>
              <a:t>이를 바탕으로 클라우드 서비스도 활용해 더욱 안정적이고 확장 가능한 서비스를 구축하는 것을 목표로 하겠습니다</a:t>
            </a:r>
            <a:r>
              <a:rPr lang="en-US" altLang="ko-KR" sz="3600" dirty="0">
                <a:latin typeface="전기안전체 Bold" pitchFamily="50" charset="-127"/>
                <a:ea typeface="전기안전체 Bold" pitchFamily="50" charset="-127"/>
              </a:rPr>
              <a:t>."</a:t>
            </a:r>
            <a:endParaRPr lang="en-US" altLang="ko-KR" sz="3300" dirty="0">
              <a:latin typeface="전기안전체 Bold" pitchFamily="50" charset="-127"/>
              <a:ea typeface="전기안전체 Bold" pitchFamily="50" charset="-127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5295900" y="2299252"/>
            <a:ext cx="8356600" cy="7455724"/>
          </a:xfrm>
          <a:prstGeom prst="rect">
            <a:avLst/>
          </a:prstGeom>
          <a:solidFill>
            <a:srgbClr val="FFFFFF">
              <a:alpha val="0"/>
            </a:srgbClr>
          </a:solidFill>
        </p:spPr>
      </p:pic>
      <p:sp>
        <p:nvSpPr>
          <p:cNvPr id="2" name="TextBox 2"/>
          <p:cNvSpPr txBox="1"/>
          <p:nvPr/>
        </p:nvSpPr>
        <p:spPr>
          <a:xfrm>
            <a:off x="6985000" y="190500"/>
            <a:ext cx="4978400" cy="12954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99600"/>
              </a:lnSpc>
              <a:defRPr/>
            </a:pPr>
            <a:endParaRPr lang="en-US" sz="7300" b="0" i="0" u="none" strike="noStrike" dirty="0">
              <a:solidFill>
                <a:srgbClr val="000000"/>
              </a:solidFill>
              <a:latin typeface="전기안전체 Bold" pitchFamily="50" charset="-127"/>
              <a:ea typeface="전기안전체 Bold" pitchFamily="50" charset="-127"/>
            </a:endParaRPr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90532EA5-EC54-5BD4-D850-9D6648A75E4E}"/>
              </a:ext>
            </a:extLst>
          </p:cNvPr>
          <p:cNvSpPr txBox="1"/>
          <p:nvPr/>
        </p:nvSpPr>
        <p:spPr>
          <a:xfrm>
            <a:off x="6971748" y="1422952"/>
            <a:ext cx="6223000" cy="17526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99600"/>
              </a:lnSpc>
              <a:defRPr/>
            </a:pPr>
            <a:r>
              <a:rPr lang="ko-KR" altLang="en-US" sz="8800" b="0" i="0" u="none" strike="noStrike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감사 합니다</a:t>
            </a:r>
            <a:r>
              <a:rPr lang="en-US" altLang="ko-KR" sz="8800" b="0" i="0" u="none" strike="noStrike" dirty="0">
                <a:solidFill>
                  <a:srgbClr val="000000"/>
                </a:solidFill>
                <a:latin typeface="전기안전체 Bold" pitchFamily="50" charset="-127"/>
                <a:ea typeface="전기안전체 Bold" pitchFamily="50" charset="-127"/>
              </a:rPr>
              <a:t>.</a:t>
            </a:r>
            <a:endParaRPr lang="ko-KR" sz="8800" b="0" i="0" u="none" strike="noStrike" dirty="0">
              <a:solidFill>
                <a:srgbClr val="000000"/>
              </a:solidFill>
              <a:latin typeface="전기안전체 Bold" pitchFamily="50" charset="-127"/>
              <a:ea typeface="전기안전체 Bold" pitchFamily="50" charset="-127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400</TotalTime>
  <Words>1073</Words>
  <Application>Microsoft Office PowerPoint</Application>
  <PresentationFormat>사용자 지정</PresentationFormat>
  <Paragraphs>238</Paragraphs>
  <Slides>37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37</vt:i4>
      </vt:variant>
    </vt:vector>
  </HeadingPairs>
  <TitlesOfParts>
    <vt:vector size="41" baseType="lpstr">
      <vt:lpstr>Arial</vt:lpstr>
      <vt:lpstr>Calibri</vt:lpstr>
      <vt:lpstr>전기안전체 Bold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박제성</dc:creator>
  <cp:lastModifiedBy>제성 박</cp:lastModifiedBy>
  <cp:revision>67</cp:revision>
  <dcterms:created xsi:type="dcterms:W3CDTF">2006-08-16T00:00:00Z</dcterms:created>
  <dcterms:modified xsi:type="dcterms:W3CDTF">2025-03-31T09:03:10Z</dcterms:modified>
  <cp:version/>
</cp:coreProperties>
</file>